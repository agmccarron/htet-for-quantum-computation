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1C96C4-1DB2-4743-AA30-C3B6DC022440}">
  <a:tblStyle styleId="{641C96C4-1DB2-4743-AA30-C3B6DC0224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3ae27277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3ae27277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3ae272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3ae272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3ae272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3ae272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3ae2727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3ae2727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c3ae2727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c3ae2727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c3ae2727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c3ae2727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c3ae2727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c3ae2727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c3ae27277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c3ae27277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c3ae27277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c3ae27277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c3ae27277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c3ae27277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c3ae2727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c3ae2727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3ae27277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3ae27277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3ae2727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c3ae2727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c3ae2727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c3ae2727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c3ae2727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c3ae2727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c3ae27277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c3ae27277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c3ae27277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c3ae2727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c3ae27277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c3ae27277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c3ae27277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c3ae2727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c3ae27277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c3ae2727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c3ae2727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c3ae2727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c3ae2727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c3ae2727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c3ae27277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c3ae27277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59d0a6ce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59d0a6ce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c3ae27277_0_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c3ae27277_0_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c3ae27277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c3ae27277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c3ae2727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cc3ae2727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c3ae27277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c3ae27277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c3ae27277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cc3ae27277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c3ae27277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cc3ae27277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c3ae27277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c3ae27277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c3ae27277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cc3ae27277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c3ae27277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c3ae27277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c3ae27277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cc3ae27277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c3ae27277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c3ae27277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c3ae27277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c3ae27277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c3ae27277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cc3ae2727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59d0a6c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959d0a6c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c3ae27277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c3ae27277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c3ae27277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cc3ae27277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c3ae27277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c3ae27277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c3ae27277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c3ae27277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c3ae27277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cc3ae27277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c3ae27277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c3ae27277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c3ae27277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cc3ae27277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cc3ae27277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cc3ae27277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c3ae27277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cc3ae27277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c3ae27277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cc3ae27277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c3ae27277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cc3ae27277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c3ae27277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cc3ae27277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cc3ae27277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cc3ae27277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cc3ae27277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cc3ae27277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c3ae27277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cc3ae27277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cc3ae27277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cc3ae27277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c3ae27277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cc3ae27277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cc3ae27277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cc3ae27277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cc3ae27277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cc3ae27277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gif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gif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gif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gif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Exploring Quantum Computing in Particle Physics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Alex McCarron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519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whether </a:t>
            </a:r>
            <a:r>
              <a:rPr b="1"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</a:t>
            </a:r>
            <a:r>
              <a:rPr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</a:t>
            </a:r>
            <a:r>
              <a:rPr b="1"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digitisation errors</a:t>
            </a:r>
            <a:r>
              <a:rPr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and/or </a:t>
            </a:r>
            <a:r>
              <a:rPr b="1"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qubit requirements</a:t>
            </a:r>
            <a:r>
              <a:rPr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compared to basic </a:t>
            </a:r>
            <a:r>
              <a:rPr b="1"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JLP and HO basis methods </a:t>
            </a:r>
            <a:r>
              <a:rPr lang="en-GB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0+1D scalar field theory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Quantum Computing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Quantum Computing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978500"/>
            <a:ext cx="4059300" cy="1513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Fundamental computational limits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Many body quantum systems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Emergence of NISQ Era hardware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Quantum Computing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978500"/>
            <a:ext cx="4059300" cy="1513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Fundamental computational limits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Many body quantum systems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Emergence of NISQ Era hardware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2491700"/>
            <a:ext cx="4059300" cy="228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Qubits: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-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quantum two-level system: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∣ψ⟩=α∣0⟩+β∣1⟩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-"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stored in probability amplitudes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-"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 qubits our working 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Hilbert Space Dimension is 2</a:t>
            </a:r>
            <a:r>
              <a:rPr b="1" baseline="30000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</a:t>
            </a:r>
            <a:r>
              <a:rPr b="1" baseline="-25000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4593000" y="336875"/>
            <a:ext cx="4182300" cy="468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10104" l="10501" r="2926" t="4052"/>
          <a:stretch/>
        </p:blipFill>
        <p:spPr>
          <a:xfrm>
            <a:off x="4808450" y="579263"/>
            <a:ext cx="3834874" cy="39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Quantum Computing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913425" y="4564250"/>
            <a:ext cx="108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Qubits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1" name="Google Shape;91;p18"/>
          <p:cNvCxnSpPr>
            <a:stCxn id="90" idx="3"/>
          </p:cNvCxnSpPr>
          <p:nvPr/>
        </p:nvCxnSpPr>
        <p:spPr>
          <a:xfrm flipH="1" rot="10800000">
            <a:off x="5997925" y="4790300"/>
            <a:ext cx="25143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8"/>
          <p:cNvSpPr txBox="1"/>
          <p:nvPr/>
        </p:nvSpPr>
        <p:spPr>
          <a:xfrm>
            <a:off x="4913425" y="4017850"/>
            <a:ext cx="41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dim(H)</a:t>
            </a:r>
            <a:endParaRPr baseline="30000" i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5710425" y="681975"/>
            <a:ext cx="2645700" cy="3561125"/>
          </a:xfrm>
          <a:custGeom>
            <a:rect b="b" l="l" r="r" t="t"/>
            <a:pathLst>
              <a:path extrusionOk="0" h="142445" w="105828">
                <a:moveTo>
                  <a:pt x="0" y="142309"/>
                </a:moveTo>
                <a:cubicBezTo>
                  <a:pt x="5697" y="142035"/>
                  <a:pt x="23774" y="143404"/>
                  <a:pt x="34181" y="140665"/>
                </a:cubicBezTo>
                <a:cubicBezTo>
                  <a:pt x="44589" y="137926"/>
                  <a:pt x="54393" y="134202"/>
                  <a:pt x="62445" y="125876"/>
                </a:cubicBezTo>
                <a:cubicBezTo>
                  <a:pt x="70497" y="117550"/>
                  <a:pt x="76962" y="103855"/>
                  <a:pt x="82494" y="90709"/>
                </a:cubicBezTo>
                <a:cubicBezTo>
                  <a:pt x="88027" y="77563"/>
                  <a:pt x="91751" y="62116"/>
                  <a:pt x="95640" y="46998"/>
                </a:cubicBezTo>
                <a:cubicBezTo>
                  <a:pt x="99529" y="31880"/>
                  <a:pt x="104130" y="7833"/>
                  <a:pt x="105828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978500"/>
            <a:ext cx="4059300" cy="1513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Fundamental computational limits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Many body quantum systems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Emergence of NISQ Era hardware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311700" y="2491700"/>
            <a:ext cx="4059300" cy="228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Qubits: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-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quantum two-level system: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∣ψ⟩=α∣0⟩+β∣1⟩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-"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stored in probability amplitudes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-"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 qubits our working 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Hilbert Space Dimension is 2</a:t>
            </a:r>
            <a:r>
              <a:rPr b="1" baseline="30000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</a:t>
            </a:r>
            <a:r>
              <a:rPr b="1" baseline="-25000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What we’re going to look at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846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How do we simulate Quantum Field Theories on Quantum Computers?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Digitisation Methods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- What does digitisation mean? What are they?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JLP Digitisation</a:t>
            </a:r>
            <a:endParaRPr baseline="-25000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Harmonic Oscillator Digitisation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How do they compare? How does this relate to Qubit usage?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Improving Digitisation Methods?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Can it be done?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(HTET)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Does it improve errors?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Does it decrease the number of Qubits we need?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Q: What do we do when we want to Simulate an infinitely spanning continuous Quantum Field Theory on a finite Qubit System?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311700" y="1744238"/>
            <a:ext cx="232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Digitisation</a:t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Q: What do we do when we want to Simulate an infinitely spanning continuous Quantum Field Theory on a finite Qubit System?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2311000"/>
            <a:ext cx="3262500" cy="1887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Truncation + Discretisation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set a maximum and minimum value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split a continuous field into finite parts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1744238"/>
            <a:ext cx="232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Digitisation</a:t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Q: What do we do when we want to Simulate an infinitely spanning continuous Quantum Field Theory on a finite Qubit System?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2311000"/>
            <a:ext cx="3262500" cy="1887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Truncation + Discretisation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set a maximum and minimum value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split a continuous field into finite parts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1" name="Google Shape;131;p23"/>
          <p:cNvCxnSpPr>
            <a:stCxn id="129" idx="3"/>
            <a:endCxn id="132" idx="1"/>
          </p:cNvCxnSpPr>
          <p:nvPr/>
        </p:nvCxnSpPr>
        <p:spPr>
          <a:xfrm>
            <a:off x="3574200" y="3254800"/>
            <a:ext cx="199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5569800" y="2848150"/>
            <a:ext cx="3262500" cy="813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3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</a:t>
            </a:r>
            <a:endParaRPr b="1" sz="3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311700" y="1744238"/>
            <a:ext cx="232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Digitisation</a:t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Q: What do we do when we want to Simulate an infinitely spanning continuous Quantum Field Theory on a finite Qubit System?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How does it work?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How does it work?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25" title="gaussian_continu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575" y="1076425"/>
            <a:ext cx="5788851" cy="3813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How does it work?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26" title="gaussian_discretisa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575" y="1076425"/>
            <a:ext cx="5788851" cy="3813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How does it work?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27" title="gaussian_trunca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575" y="1076425"/>
            <a:ext cx="5788851" cy="3813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How does it work?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28" title="gaussian_truncation_discretisa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575" y="1076425"/>
            <a:ext cx="5788851" cy="3813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1" name="Google Shape;181;p30" title="hamiltonian_transparent.png"/>
          <p:cNvPicPr preferRelativeResize="0"/>
          <p:nvPr/>
        </p:nvPicPr>
        <p:blipFill rotWithShape="1">
          <a:blip r:embed="rId3">
            <a:alphaModFix/>
          </a:blip>
          <a:srcRect b="21803" l="15314" r="15858" t="24875"/>
          <a:stretch/>
        </p:blipFill>
        <p:spPr>
          <a:xfrm>
            <a:off x="517125" y="1298225"/>
            <a:ext cx="2449023" cy="6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540438" y="1813550"/>
            <a:ext cx="24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(0+1D Quantum Mechanics)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4034250" y="1248275"/>
            <a:ext cx="4683300" cy="78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Energy Eigenvalues </a:t>
            </a:r>
            <a:b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Compare against known values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1" title="hamiltonian_transparent.png"/>
          <p:cNvPicPr preferRelativeResize="0"/>
          <p:nvPr/>
        </p:nvPicPr>
        <p:blipFill rotWithShape="1">
          <a:blip r:embed="rId3">
            <a:alphaModFix/>
          </a:blip>
          <a:srcRect b="21803" l="15314" r="15858" t="24875"/>
          <a:stretch/>
        </p:blipFill>
        <p:spPr>
          <a:xfrm>
            <a:off x="517125" y="1298225"/>
            <a:ext cx="2449023" cy="68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31"/>
          <p:cNvCxnSpPr>
            <a:stCxn id="191" idx="3"/>
            <a:endCxn id="190" idx="1"/>
          </p:cNvCxnSpPr>
          <p:nvPr/>
        </p:nvCxnSpPr>
        <p:spPr>
          <a:xfrm>
            <a:off x="2966148" y="1638575"/>
            <a:ext cx="10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540438" y="1813550"/>
            <a:ext cx="24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(0+1D Quantum Mechanics)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/>
          <p:nvPr/>
        </p:nvSpPr>
        <p:spPr>
          <a:xfrm>
            <a:off x="386250" y="2408100"/>
            <a:ext cx="3335700" cy="68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+</a:t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4034250" y="1248275"/>
            <a:ext cx="4683300" cy="78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Energy Eigenvalues </a:t>
            </a:r>
            <a:b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Compare against known values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32" title="hamiltonian_transparent.png"/>
          <p:cNvPicPr preferRelativeResize="0"/>
          <p:nvPr/>
        </p:nvPicPr>
        <p:blipFill rotWithShape="1">
          <a:blip r:embed="rId3">
            <a:alphaModFix/>
          </a:blip>
          <a:srcRect b="21803" l="15314" r="15858" t="24875"/>
          <a:stretch/>
        </p:blipFill>
        <p:spPr>
          <a:xfrm>
            <a:off x="517125" y="1298225"/>
            <a:ext cx="2449023" cy="68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32"/>
          <p:cNvCxnSpPr>
            <a:stCxn id="203" idx="3"/>
            <a:endCxn id="202" idx="1"/>
          </p:cNvCxnSpPr>
          <p:nvPr/>
        </p:nvCxnSpPr>
        <p:spPr>
          <a:xfrm>
            <a:off x="2966148" y="1638575"/>
            <a:ext cx="10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5" name="Google Shape;205;p32"/>
          <p:cNvSpPr/>
          <p:nvPr/>
        </p:nvSpPr>
        <p:spPr>
          <a:xfrm>
            <a:off x="1281750" y="1248275"/>
            <a:ext cx="739500" cy="680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2"/>
          <p:cNvSpPr/>
          <p:nvPr/>
        </p:nvSpPr>
        <p:spPr>
          <a:xfrm>
            <a:off x="2226650" y="1248275"/>
            <a:ext cx="739500" cy="680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32"/>
          <p:cNvCxnSpPr>
            <a:stCxn id="205" idx="3"/>
          </p:cNvCxnSpPr>
          <p:nvPr/>
        </p:nvCxnSpPr>
        <p:spPr>
          <a:xfrm flipH="1">
            <a:off x="961347" y="1829289"/>
            <a:ext cx="428700" cy="5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" name="Google Shape;208;p32"/>
          <p:cNvSpPr txBox="1"/>
          <p:nvPr/>
        </p:nvSpPr>
        <p:spPr>
          <a:xfrm>
            <a:off x="386250" y="2517600"/>
            <a:ext cx="18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1980150" y="2515500"/>
            <a:ext cx="17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0" name="Google Shape;210;p32"/>
          <p:cNvCxnSpPr/>
          <p:nvPr/>
        </p:nvCxnSpPr>
        <p:spPr>
          <a:xfrm>
            <a:off x="2347647" y="1829289"/>
            <a:ext cx="413100" cy="57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737638" y="3093400"/>
            <a:ext cx="24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are fields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/>
          <p:nvPr/>
        </p:nvSpPr>
        <p:spPr>
          <a:xfrm>
            <a:off x="386250" y="2408100"/>
            <a:ext cx="3335700" cy="68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+</a:t>
            </a:r>
            <a:endParaRPr/>
          </a:p>
        </p:txBody>
      </p:sp>
      <p:sp>
        <p:nvSpPr>
          <p:cNvPr id="219" name="Google Shape;219;p33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4034250" y="1248275"/>
            <a:ext cx="4683300" cy="78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Energy Eigenvalues </a:t>
            </a:r>
            <a:b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Compare against known values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3" title="hamiltonian_transparent.png"/>
          <p:cNvPicPr preferRelativeResize="0"/>
          <p:nvPr/>
        </p:nvPicPr>
        <p:blipFill rotWithShape="1">
          <a:blip r:embed="rId3">
            <a:alphaModFix/>
          </a:blip>
          <a:srcRect b="21803" l="15314" r="15858" t="24875"/>
          <a:stretch/>
        </p:blipFill>
        <p:spPr>
          <a:xfrm>
            <a:off x="517125" y="1298225"/>
            <a:ext cx="2449023" cy="68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33"/>
          <p:cNvCxnSpPr>
            <a:stCxn id="221" idx="3"/>
            <a:endCxn id="220" idx="1"/>
          </p:cNvCxnSpPr>
          <p:nvPr/>
        </p:nvCxnSpPr>
        <p:spPr>
          <a:xfrm>
            <a:off x="2966148" y="1638575"/>
            <a:ext cx="10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3" name="Google Shape;223;p33"/>
          <p:cNvSpPr/>
          <p:nvPr/>
        </p:nvSpPr>
        <p:spPr>
          <a:xfrm>
            <a:off x="1281750" y="1248275"/>
            <a:ext cx="739500" cy="680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/>
          <p:nvPr/>
        </p:nvSpPr>
        <p:spPr>
          <a:xfrm>
            <a:off x="2226650" y="1248275"/>
            <a:ext cx="739500" cy="680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33"/>
          <p:cNvCxnSpPr>
            <a:stCxn id="223" idx="3"/>
          </p:cNvCxnSpPr>
          <p:nvPr/>
        </p:nvCxnSpPr>
        <p:spPr>
          <a:xfrm flipH="1">
            <a:off x="961347" y="1829289"/>
            <a:ext cx="428700" cy="5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6" name="Google Shape;226;p33"/>
          <p:cNvSpPr txBox="1"/>
          <p:nvPr/>
        </p:nvSpPr>
        <p:spPr>
          <a:xfrm>
            <a:off x="386250" y="2517600"/>
            <a:ext cx="18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1980150" y="2515500"/>
            <a:ext cx="17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8" name="Google Shape;228;p33"/>
          <p:cNvCxnSpPr/>
          <p:nvPr/>
        </p:nvCxnSpPr>
        <p:spPr>
          <a:xfrm>
            <a:off x="2347647" y="1829289"/>
            <a:ext cx="413100" cy="57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" name="Google Shape;229;p33"/>
          <p:cNvCxnSpPr>
            <a:stCxn id="218" idx="3"/>
          </p:cNvCxnSpPr>
          <p:nvPr/>
        </p:nvCxnSpPr>
        <p:spPr>
          <a:xfrm flipH="1" rot="10800000">
            <a:off x="3721950" y="2744250"/>
            <a:ext cx="11937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0" name="Google Shape;230;p33"/>
          <p:cNvSpPr txBox="1"/>
          <p:nvPr/>
        </p:nvSpPr>
        <p:spPr>
          <a:xfrm>
            <a:off x="4915650" y="2532750"/>
            <a:ext cx="1569300" cy="42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Digitise Both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3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737638" y="3093400"/>
            <a:ext cx="24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are fields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/>
          <p:nvPr/>
        </p:nvSpPr>
        <p:spPr>
          <a:xfrm>
            <a:off x="386250" y="2408100"/>
            <a:ext cx="3335700" cy="68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+</a:t>
            </a:r>
            <a:endParaRPr/>
          </a:p>
        </p:txBody>
      </p:sp>
      <p:sp>
        <p:nvSpPr>
          <p:cNvPr id="239" name="Google Shape;239;p34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4034250" y="1248275"/>
            <a:ext cx="4683300" cy="78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Energy Eigenvalues </a:t>
            </a:r>
            <a:b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Compare against known values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p34" title="hamiltonian_transparent.png"/>
          <p:cNvPicPr preferRelativeResize="0"/>
          <p:nvPr/>
        </p:nvPicPr>
        <p:blipFill rotWithShape="1">
          <a:blip r:embed="rId3">
            <a:alphaModFix/>
          </a:blip>
          <a:srcRect b="21803" l="15314" r="15858" t="24875"/>
          <a:stretch/>
        </p:blipFill>
        <p:spPr>
          <a:xfrm>
            <a:off x="517125" y="1298225"/>
            <a:ext cx="2449023" cy="68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34"/>
          <p:cNvCxnSpPr>
            <a:stCxn id="241" idx="3"/>
            <a:endCxn id="240" idx="1"/>
          </p:cNvCxnSpPr>
          <p:nvPr/>
        </p:nvCxnSpPr>
        <p:spPr>
          <a:xfrm>
            <a:off x="2966148" y="1638575"/>
            <a:ext cx="10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3" name="Google Shape;243;p34"/>
          <p:cNvSpPr/>
          <p:nvPr/>
        </p:nvSpPr>
        <p:spPr>
          <a:xfrm>
            <a:off x="1281750" y="1248275"/>
            <a:ext cx="739500" cy="680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4"/>
          <p:cNvSpPr/>
          <p:nvPr/>
        </p:nvSpPr>
        <p:spPr>
          <a:xfrm>
            <a:off x="2226650" y="1248275"/>
            <a:ext cx="739500" cy="680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34"/>
          <p:cNvCxnSpPr>
            <a:stCxn id="243" idx="3"/>
          </p:cNvCxnSpPr>
          <p:nvPr/>
        </p:nvCxnSpPr>
        <p:spPr>
          <a:xfrm flipH="1">
            <a:off x="961347" y="1829289"/>
            <a:ext cx="428700" cy="5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" name="Google Shape;246;p34"/>
          <p:cNvSpPr txBox="1"/>
          <p:nvPr/>
        </p:nvSpPr>
        <p:spPr>
          <a:xfrm>
            <a:off x="386250" y="2517600"/>
            <a:ext cx="18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1980150" y="2515500"/>
            <a:ext cx="17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8" name="Google Shape;248;p34"/>
          <p:cNvCxnSpPr/>
          <p:nvPr/>
        </p:nvCxnSpPr>
        <p:spPr>
          <a:xfrm>
            <a:off x="2347647" y="1829289"/>
            <a:ext cx="413100" cy="57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" name="Google Shape;249;p34"/>
          <p:cNvCxnSpPr>
            <a:stCxn id="238" idx="3"/>
          </p:cNvCxnSpPr>
          <p:nvPr/>
        </p:nvCxnSpPr>
        <p:spPr>
          <a:xfrm flipH="1" rot="10800000">
            <a:off x="3721950" y="2744250"/>
            <a:ext cx="11937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" name="Google Shape;250;p34"/>
          <p:cNvSpPr txBox="1"/>
          <p:nvPr/>
        </p:nvSpPr>
        <p:spPr>
          <a:xfrm>
            <a:off x="4915650" y="2532750"/>
            <a:ext cx="1569300" cy="42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Digitise Both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34" title="hamiltonian_transparent.png"/>
          <p:cNvPicPr preferRelativeResize="0"/>
          <p:nvPr/>
        </p:nvPicPr>
        <p:blipFill rotWithShape="1">
          <a:blip r:embed="rId3">
            <a:alphaModFix/>
          </a:blip>
          <a:srcRect b="21803" l="15315" r="73076" t="24875"/>
          <a:stretch/>
        </p:blipFill>
        <p:spPr>
          <a:xfrm>
            <a:off x="517125" y="3770525"/>
            <a:ext cx="413100" cy="68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34"/>
          <p:cNvCxnSpPr>
            <a:stCxn id="251" idx="3"/>
          </p:cNvCxnSpPr>
          <p:nvPr/>
        </p:nvCxnSpPr>
        <p:spPr>
          <a:xfrm>
            <a:off x="930225" y="4110875"/>
            <a:ext cx="15882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3" name="Google Shape;253;p34"/>
          <p:cNvSpPr txBox="1"/>
          <p:nvPr/>
        </p:nvSpPr>
        <p:spPr>
          <a:xfrm>
            <a:off x="2587000" y="3884975"/>
            <a:ext cx="43956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Explicitly calculating as a matrix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34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256" name="Google Shape;256;p34"/>
          <p:cNvSpPr txBox="1"/>
          <p:nvPr/>
        </p:nvSpPr>
        <p:spPr>
          <a:xfrm>
            <a:off x="737638" y="3093400"/>
            <a:ext cx="24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are fields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1721525" y="1125700"/>
            <a:ext cx="15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5058325" y="1139100"/>
            <a:ext cx="1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35" title="two_vertical_lines.png"/>
          <p:cNvPicPr preferRelativeResize="0"/>
          <p:nvPr/>
        </p:nvPicPr>
        <p:blipFill rotWithShape="1">
          <a:blip r:embed="rId3">
            <a:alphaModFix/>
          </a:blip>
          <a:srcRect b="952" l="0" r="0" t="952"/>
          <a:stretch/>
        </p:blipFill>
        <p:spPr>
          <a:xfrm>
            <a:off x="2846975" y="1195975"/>
            <a:ext cx="2501875" cy="3712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5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400325" y="72061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572000" y="707200"/>
            <a:ext cx="202674" cy="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1721525" y="1125700"/>
            <a:ext cx="15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5058325" y="1139100"/>
            <a:ext cx="1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36" title="frame_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975" y="119597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6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400325" y="72061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6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572000" y="707200"/>
            <a:ext cx="202674" cy="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6"/>
          <p:cNvSpPr txBox="1"/>
          <p:nvPr/>
        </p:nvSpPr>
        <p:spPr>
          <a:xfrm>
            <a:off x="5027600" y="1787575"/>
            <a:ext cx="64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4996850" y="3878350"/>
            <a:ext cx="7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2663825" y="2163350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2717000" y="3384125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83" name="Google Shape;283;p36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1721525" y="1125700"/>
            <a:ext cx="15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5058325" y="1139100"/>
            <a:ext cx="1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37" title="frame_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975" y="119597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7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400325" y="72061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7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572000" y="707200"/>
            <a:ext cx="202674" cy="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/>
        </p:nvSpPr>
        <p:spPr>
          <a:xfrm>
            <a:off x="5027600" y="1787575"/>
            <a:ext cx="64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4996850" y="3878350"/>
            <a:ext cx="7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2663825" y="2163350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2717000" y="3384125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769350" y="2831225"/>
            <a:ext cx="3300300" cy="2077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Matrix Construction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Diagonal Elements set to values of k and Φ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7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7" name="Google Shape;307;p38"/>
          <p:cNvSpPr txBox="1"/>
          <p:nvPr/>
        </p:nvSpPr>
        <p:spPr>
          <a:xfrm>
            <a:off x="1721525" y="1125700"/>
            <a:ext cx="15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5058325" y="1139100"/>
            <a:ext cx="1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38" title="frame_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975" y="119597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8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400325" y="72061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8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572000" y="707200"/>
            <a:ext cx="202674" cy="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8"/>
          <p:cNvSpPr txBox="1"/>
          <p:nvPr/>
        </p:nvSpPr>
        <p:spPr>
          <a:xfrm>
            <a:off x="5027600" y="1787575"/>
            <a:ext cx="64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4996850" y="3878350"/>
            <a:ext cx="7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2663825" y="2163350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2717000" y="3384125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5769350" y="2831225"/>
            <a:ext cx="3300300" cy="2077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Matrix Construction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Diagonal Elements set to values of k and Φ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matrix converted to field space using a quantum fourier transform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38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6139750" y="3845813"/>
            <a:ext cx="259601" cy="4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8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1721525" y="1125700"/>
            <a:ext cx="15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5058325" y="1139100"/>
            <a:ext cx="1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7" name="Google Shape;327;p39" title="frame_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975" y="119597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9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400325" y="72061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572000" y="707200"/>
            <a:ext cx="202674" cy="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9"/>
          <p:cNvSpPr txBox="1"/>
          <p:nvPr/>
        </p:nvSpPr>
        <p:spPr>
          <a:xfrm>
            <a:off x="5027600" y="1787575"/>
            <a:ext cx="64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4996850" y="3878350"/>
            <a:ext cx="7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-Φ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2663825" y="2163350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2717000" y="3384125"/>
            <a:ext cx="7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-k</a:t>
            </a:r>
            <a:r>
              <a:rPr baseline="-25000" lang="en-GB" sz="1800">
                <a:solidFill>
                  <a:schemeClr val="dk2"/>
                </a:solidFill>
              </a:rPr>
              <a:t>max</a:t>
            </a:r>
            <a:endParaRPr baseline="-25000" sz="1800">
              <a:solidFill>
                <a:schemeClr val="dk2"/>
              </a:solidFill>
            </a:endParaRPr>
          </a:p>
        </p:txBody>
      </p:sp>
      <p:pic>
        <p:nvPicPr>
          <p:cNvPr id="334" name="Google Shape;334;p39" title="delta_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7475" y="3310276"/>
            <a:ext cx="3458841" cy="1240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9" title="k_max_phi_rel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87487" y="1828376"/>
            <a:ext cx="3458870" cy="12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 title="delta_ph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8850" y="1671151"/>
            <a:ext cx="3572301" cy="12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 txBox="1"/>
          <p:nvPr>
            <p:ph idx="1" type="body"/>
          </p:nvPr>
        </p:nvSpPr>
        <p:spPr>
          <a:xfrm>
            <a:off x="5769350" y="2831225"/>
            <a:ext cx="3300300" cy="2077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Matrix Construction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Diagonal Elements set to values of k and Φ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matrix converted to field space using a quantum fourier transform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39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6139750" y="3845813"/>
            <a:ext cx="259601" cy="4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9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9"/>
          <p:cNvSpPr txBox="1"/>
          <p:nvPr/>
        </p:nvSpPr>
        <p:spPr>
          <a:xfrm>
            <a:off x="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6" name="Google Shape;346;p40"/>
          <p:cNvSpPr txBox="1"/>
          <p:nvPr/>
        </p:nvSpPr>
        <p:spPr>
          <a:xfrm>
            <a:off x="1721525" y="1125700"/>
            <a:ext cx="15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40"/>
          <p:cNvSpPr txBox="1"/>
          <p:nvPr/>
        </p:nvSpPr>
        <p:spPr>
          <a:xfrm>
            <a:off x="5058325" y="1139100"/>
            <a:ext cx="1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Term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8" name="Google Shape;348;p40" title="squish_stretch_swap_loop_2x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6975" y="119597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400325" y="72061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0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572000" y="707200"/>
            <a:ext cx="202674" cy="4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0" title="delta_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7475" y="3310276"/>
            <a:ext cx="3458841" cy="1240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0" title="k_max_phi_rel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87487" y="1828376"/>
            <a:ext cx="3458870" cy="12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0" title="delta_ph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8850" y="1671151"/>
            <a:ext cx="3572301" cy="12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0"/>
          <p:cNvSpPr txBox="1"/>
          <p:nvPr>
            <p:ph idx="1" type="body"/>
          </p:nvPr>
        </p:nvSpPr>
        <p:spPr>
          <a:xfrm>
            <a:off x="5769350" y="2831225"/>
            <a:ext cx="3300300" cy="2077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Matrix Construction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Diagonal Elements set to values of k and Φ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matrix converted to field space using a quantum fourier transform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" name="Google Shape;355;p40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6139750" y="3845813"/>
            <a:ext cx="259601" cy="4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0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3" name="Google Shape;363;p41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4" name="Google Shape;364;p41" title="squish_stretch_swap_loop_2x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75" y="143052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1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912525" y="95516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1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2084200" y="941750"/>
            <a:ext cx="202674" cy="4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1" title="hamiltonian_transparent.png"/>
          <p:cNvPicPr preferRelativeResize="0"/>
          <p:nvPr/>
        </p:nvPicPr>
        <p:blipFill rotWithShape="1">
          <a:blip r:embed="rId4">
            <a:alphaModFix/>
          </a:blip>
          <a:srcRect b="21803" l="15314" r="15858" t="24875"/>
          <a:stretch/>
        </p:blipFill>
        <p:spPr>
          <a:xfrm>
            <a:off x="3493325" y="955175"/>
            <a:ext cx="2449023" cy="6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1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4350900" y="4549400"/>
            <a:ext cx="479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2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5" name="Google Shape;375;p42" title="squish_stretch_swap_loop_2x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75" y="143052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2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912525" y="95516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2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2084200" y="941750"/>
            <a:ext cx="202674" cy="4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2" title="hamiltonian_transparent.png"/>
          <p:cNvPicPr preferRelativeResize="0"/>
          <p:nvPr/>
        </p:nvPicPr>
        <p:blipFill rotWithShape="1">
          <a:blip r:embed="rId4">
            <a:alphaModFix/>
          </a:blip>
          <a:srcRect b="21803" l="15314" r="15858" t="24875"/>
          <a:stretch/>
        </p:blipFill>
        <p:spPr>
          <a:xfrm>
            <a:off x="3493325" y="955175"/>
            <a:ext cx="2449023" cy="6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3493325" y="1690900"/>
            <a:ext cx="4683300" cy="125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Nyquist Shannon Sampling Theorem: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Balance contributions from both the kinetic and potential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42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42"/>
          <p:cNvSpPr txBox="1"/>
          <p:nvPr/>
        </p:nvSpPr>
        <p:spPr>
          <a:xfrm>
            <a:off x="4350900" y="4549400"/>
            <a:ext cx="479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87" name="Google Shape;387;p43" title="squish_stretch_swap_loop_2x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75" y="1430525"/>
            <a:ext cx="2501877" cy="37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912525" y="955163"/>
            <a:ext cx="259601" cy="4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2084200" y="941750"/>
            <a:ext cx="202674" cy="4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3" title="hamiltonian_transparent.png"/>
          <p:cNvPicPr preferRelativeResize="0"/>
          <p:nvPr/>
        </p:nvPicPr>
        <p:blipFill rotWithShape="1">
          <a:blip r:embed="rId4">
            <a:alphaModFix/>
          </a:blip>
          <a:srcRect b="21803" l="15314" r="15858" t="24875"/>
          <a:stretch/>
        </p:blipFill>
        <p:spPr>
          <a:xfrm>
            <a:off x="3493325" y="955175"/>
            <a:ext cx="2449023" cy="6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493325" y="1690900"/>
            <a:ext cx="4683300" cy="125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Nyquist Shannon Sampling Theorem: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Balance contributions from both the kinetic and potential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43" title="phi_max_optim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3322" y="3105825"/>
            <a:ext cx="4023752" cy="14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3" title="phi_max_optim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7199" y="3263508"/>
            <a:ext cx="3144699" cy="112820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3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4350900" y="4549400"/>
            <a:ext cx="479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[4] - C. W. Bauer, B. Nachman, and M. Freytsis, Simulating collider physics on quantum computers using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effective field theories, Physical Review Letters 127, 10.1103/physrevlett.127.212001 (2021).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96" name="Google Shape;396;p43"/>
          <p:cNvSpPr txBox="1"/>
          <p:nvPr/>
        </p:nvSpPr>
        <p:spPr>
          <a:xfrm>
            <a:off x="7078975" y="3865800"/>
            <a:ext cx="180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[4]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2" name="Google Shape;402;p44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4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JLP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44"/>
          <p:cNvSpPr txBox="1"/>
          <p:nvPr/>
        </p:nvSpPr>
        <p:spPr>
          <a:xfrm>
            <a:off x="7871400" y="4064100"/>
            <a:ext cx="127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405" name="Google Shape;405;p44"/>
          <p:cNvSpPr txBox="1"/>
          <p:nvPr>
            <p:ph idx="1" type="body"/>
          </p:nvPr>
        </p:nvSpPr>
        <p:spPr>
          <a:xfrm>
            <a:off x="6332225" y="1125725"/>
            <a:ext cx="2590800" cy="2204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Dotted lines are calculated optimal  ϕ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max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values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Decreased errors for increased Qubit number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Direct reproduction of results seen in literature 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44" title="image_2026-03-03_0751516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625" y="1125725"/>
            <a:ext cx="5921451" cy="38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2" name="Google Shape;412;p45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45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6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9" name="Google Shape;419;p46"/>
          <p:cNvSpPr txBox="1"/>
          <p:nvPr>
            <p:ph idx="1" type="body"/>
          </p:nvPr>
        </p:nvSpPr>
        <p:spPr>
          <a:xfrm>
            <a:off x="311700" y="1125725"/>
            <a:ext cx="7296600" cy="7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Digitise a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set of harmonic oscillator energy eigenstates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instead of the field and momentum spaces directly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6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46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7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27" name="Google Shape;427;p47" title="eigensta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825" y="2067900"/>
            <a:ext cx="4419598" cy="147508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7"/>
          <p:cNvSpPr txBox="1"/>
          <p:nvPr>
            <p:ph idx="1" type="body"/>
          </p:nvPr>
        </p:nvSpPr>
        <p:spPr>
          <a:xfrm>
            <a:off x="311700" y="1125725"/>
            <a:ext cx="7296600" cy="7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Digitise a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set of harmonic oscillator energy eigenstates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instead of the Field and Momentum spaces directly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7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47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/>
          <p:nvPr/>
        </p:nvSpPr>
        <p:spPr>
          <a:xfrm>
            <a:off x="8832300" y="0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6" name="Google Shape;436;p48"/>
          <p:cNvSpPr txBox="1"/>
          <p:nvPr>
            <p:ph idx="1" type="body"/>
          </p:nvPr>
        </p:nvSpPr>
        <p:spPr>
          <a:xfrm>
            <a:off x="311700" y="1125725"/>
            <a:ext cx="7296600" cy="7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Digitise a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set of harmonic oscillator energy eigenstates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instead of the Field and Momentum spaces directly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p48" title="eigensta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825" y="2067900"/>
            <a:ext cx="4419598" cy="147508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8"/>
          <p:cNvSpPr txBox="1"/>
          <p:nvPr>
            <p:ph idx="1" type="body"/>
          </p:nvPr>
        </p:nvSpPr>
        <p:spPr>
          <a:xfrm>
            <a:off x="311700" y="3720125"/>
            <a:ext cx="7296600" cy="79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express     and    in terms of these states?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9" name="Google Shape;439;p48" title="hamiltonian_transparent.png"/>
          <p:cNvPicPr preferRelativeResize="0"/>
          <p:nvPr/>
        </p:nvPicPr>
        <p:blipFill rotWithShape="1">
          <a:blip r:embed="rId4">
            <a:alphaModFix/>
          </a:blip>
          <a:srcRect b="39855" l="44271" r="48303" t="27846"/>
          <a:stretch/>
        </p:blipFill>
        <p:spPr>
          <a:xfrm>
            <a:off x="3181850" y="3778924"/>
            <a:ext cx="233851" cy="36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 title="hamiltonian_transparent.png"/>
          <p:cNvPicPr preferRelativeResize="0"/>
          <p:nvPr/>
        </p:nvPicPr>
        <p:blipFill rotWithShape="1">
          <a:blip r:embed="rId4">
            <a:alphaModFix/>
          </a:blip>
          <a:srcRect b="36159" l="73312" r="21030" t="29401"/>
          <a:stretch/>
        </p:blipFill>
        <p:spPr>
          <a:xfrm>
            <a:off x="4014900" y="3745413"/>
            <a:ext cx="202674" cy="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8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48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/>
        </p:nvSpPr>
        <p:spPr>
          <a:xfrm>
            <a:off x="861822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48" name="Google Shape;448;p49" title="HO Hamilton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25725"/>
            <a:ext cx="4243224" cy="152229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9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49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50" title="HO Hamilton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25725"/>
            <a:ext cx="4243224" cy="152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0" title="HO Hamiltonian lad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75" y="2487550"/>
            <a:ext cx="3808252" cy="1366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50"/>
          <p:cNvCxnSpPr/>
          <p:nvPr/>
        </p:nvCxnSpPr>
        <p:spPr>
          <a:xfrm>
            <a:off x="2394300" y="2129100"/>
            <a:ext cx="7500" cy="6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8" name="Google Shape;458;p50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50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460" name="Google Shape;460;p50"/>
          <p:cNvSpPr txBox="1"/>
          <p:nvPr/>
        </p:nvSpPr>
        <p:spPr>
          <a:xfrm>
            <a:off x="862584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1" title="HO Hamilton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25725"/>
            <a:ext cx="4243224" cy="152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1" title="HO Hamiltonian lad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75" y="2487550"/>
            <a:ext cx="3808252" cy="1366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51"/>
          <p:cNvCxnSpPr/>
          <p:nvPr/>
        </p:nvCxnSpPr>
        <p:spPr>
          <a:xfrm>
            <a:off x="2394300" y="2129100"/>
            <a:ext cx="7500" cy="6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8" name="Google Shape;468;p51"/>
          <p:cNvSpPr txBox="1"/>
          <p:nvPr/>
        </p:nvSpPr>
        <p:spPr>
          <a:xfrm>
            <a:off x="4243200" y="2939825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&amp;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69" name="Google Shape;469;p51" title="eigenstat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3500" y="2596174"/>
            <a:ext cx="3442575" cy="11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1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51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472" name="Google Shape;472;p51"/>
          <p:cNvSpPr txBox="1"/>
          <p:nvPr/>
        </p:nvSpPr>
        <p:spPr>
          <a:xfrm>
            <a:off x="862584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52" title="HO Hamilton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25725"/>
            <a:ext cx="4243224" cy="152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2" title="HO Hamiltonian lad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75" y="2487550"/>
            <a:ext cx="3808252" cy="1366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52"/>
          <p:cNvCxnSpPr/>
          <p:nvPr/>
        </p:nvCxnSpPr>
        <p:spPr>
          <a:xfrm>
            <a:off x="2394300" y="2129100"/>
            <a:ext cx="7500" cy="6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0" name="Google Shape;480;p52"/>
          <p:cNvSpPr txBox="1"/>
          <p:nvPr/>
        </p:nvSpPr>
        <p:spPr>
          <a:xfrm>
            <a:off x="4243200" y="2939825"/>
            <a:ext cx="3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&amp;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1" name="Google Shape;481;p52" title="eigenstat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3500" y="2596174"/>
            <a:ext cx="3442575" cy="11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2" title="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725" y="3853801"/>
            <a:ext cx="3316625" cy="1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2" title="adagger.png"/>
          <p:cNvPicPr preferRelativeResize="0"/>
          <p:nvPr/>
        </p:nvPicPr>
        <p:blipFill rotWithShape="1">
          <a:blip r:embed="rId7">
            <a:alphaModFix/>
          </a:blip>
          <a:srcRect b="0" l="1371" r="1371" t="0"/>
          <a:stretch/>
        </p:blipFill>
        <p:spPr>
          <a:xfrm>
            <a:off x="4916463" y="3853801"/>
            <a:ext cx="3316625" cy="11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2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52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486" name="Google Shape;486;p52"/>
          <p:cNvSpPr txBox="1"/>
          <p:nvPr/>
        </p:nvSpPr>
        <p:spPr>
          <a:xfrm>
            <a:off x="862584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53" title="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25" y="1125726"/>
            <a:ext cx="3316625" cy="1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3" title="adagger.png"/>
          <p:cNvPicPr preferRelativeResize="0"/>
          <p:nvPr/>
        </p:nvPicPr>
        <p:blipFill rotWithShape="1">
          <a:blip r:embed="rId4">
            <a:alphaModFix/>
          </a:blip>
          <a:srcRect b="0" l="1371" r="1371" t="0"/>
          <a:stretch/>
        </p:blipFill>
        <p:spPr>
          <a:xfrm>
            <a:off x="4847763" y="1125726"/>
            <a:ext cx="3316625" cy="11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3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53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495" name="Google Shape;495;p53"/>
          <p:cNvSpPr txBox="1"/>
          <p:nvPr/>
        </p:nvSpPr>
        <p:spPr>
          <a:xfrm>
            <a:off x="861822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54" title="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25" y="1125726"/>
            <a:ext cx="3316625" cy="1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4" title="adagger.png"/>
          <p:cNvPicPr preferRelativeResize="0"/>
          <p:nvPr/>
        </p:nvPicPr>
        <p:blipFill rotWithShape="1">
          <a:blip r:embed="rId4">
            <a:alphaModFix/>
          </a:blip>
          <a:srcRect b="0" l="1371" r="1371" t="0"/>
          <a:stretch/>
        </p:blipFill>
        <p:spPr>
          <a:xfrm>
            <a:off x="4847763" y="1125726"/>
            <a:ext cx="3316625" cy="1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4" title="phi_ladd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750" y="2429876"/>
            <a:ext cx="3632724" cy="1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4" title="pi_ladder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3125" y="2429876"/>
            <a:ext cx="3632724" cy="13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4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54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506" name="Google Shape;506;p54"/>
          <p:cNvSpPr txBox="1"/>
          <p:nvPr/>
        </p:nvSpPr>
        <p:spPr>
          <a:xfrm>
            <a:off x="862584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55" title="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25" y="1125726"/>
            <a:ext cx="3316625" cy="1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5" title="adagger.png"/>
          <p:cNvPicPr preferRelativeResize="0"/>
          <p:nvPr/>
        </p:nvPicPr>
        <p:blipFill rotWithShape="1">
          <a:blip r:embed="rId4">
            <a:alphaModFix/>
          </a:blip>
          <a:srcRect b="0" l="1371" r="1371" t="0"/>
          <a:stretch/>
        </p:blipFill>
        <p:spPr>
          <a:xfrm>
            <a:off x="4847763" y="1125726"/>
            <a:ext cx="3316625" cy="1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5" title="phi_ladd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975" y="2429876"/>
            <a:ext cx="3632724" cy="1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5" title="pi_ladder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3125" y="2429876"/>
            <a:ext cx="3632724" cy="1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5" title="interacti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40874" y="3485532"/>
            <a:ext cx="4621298" cy="1657962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55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55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518" name="Google Shape;518;p55"/>
          <p:cNvSpPr txBox="1"/>
          <p:nvPr/>
        </p:nvSpPr>
        <p:spPr>
          <a:xfrm>
            <a:off x="861822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6"/>
          <p:cNvSpPr txBox="1"/>
          <p:nvPr>
            <p:ph type="title"/>
          </p:nvPr>
        </p:nvSpPr>
        <p:spPr>
          <a:xfrm>
            <a:off x="311700" y="4450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Digitisation - Harmonic Oscillator Basis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4" name="Google Shape;524;p56" title="image_2026-03-03_075217834.png"/>
          <p:cNvPicPr preferRelativeResize="0"/>
          <p:nvPr/>
        </p:nvPicPr>
        <p:blipFill rotWithShape="1">
          <a:blip r:embed="rId3">
            <a:alphaModFix/>
          </a:blip>
          <a:srcRect b="0" l="169" r="179" t="0"/>
          <a:stretch/>
        </p:blipFill>
        <p:spPr>
          <a:xfrm>
            <a:off x="197400" y="958100"/>
            <a:ext cx="6935950" cy="406347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6"/>
          <p:cNvSpPr txBox="1"/>
          <p:nvPr>
            <p:ph idx="1" type="body"/>
          </p:nvPr>
        </p:nvSpPr>
        <p:spPr>
          <a:xfrm>
            <a:off x="7239000" y="1257300"/>
            <a:ext cx="1767900" cy="2926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1695">
                <a:latin typeface="Times New Roman"/>
                <a:ea typeface="Times New Roman"/>
                <a:cs typeface="Times New Roman"/>
                <a:sym typeface="Times New Roman"/>
              </a:rPr>
              <a:t>Harmonic Oscillator basis significantly outperform JLP at a given number of Qubits</a:t>
            </a:r>
            <a:endParaRPr sz="16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695">
                <a:latin typeface="Times New Roman"/>
                <a:ea typeface="Times New Roman"/>
                <a:cs typeface="Times New Roman"/>
                <a:sym typeface="Times New Roman"/>
              </a:rPr>
              <a:t>Direct reproduction of  structure seen in literature </a:t>
            </a:r>
            <a:r>
              <a:rPr baseline="-25000" lang="en-GB" sz="1695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16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56"/>
          <p:cNvSpPr txBox="1"/>
          <p:nvPr/>
        </p:nvSpPr>
        <p:spPr>
          <a:xfrm>
            <a:off x="7338050" y="4315075"/>
            <a:ext cx="1729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sp>
        <p:nvSpPr>
          <p:cNvPr id="527" name="Google Shape;527;p56"/>
          <p:cNvSpPr txBox="1"/>
          <p:nvPr/>
        </p:nvSpPr>
        <p:spPr>
          <a:xfrm>
            <a:off x="861822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7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3" name="Google Shape;533;p57"/>
          <p:cNvSpPr txBox="1"/>
          <p:nvPr>
            <p:ph idx="1" type="body"/>
          </p:nvPr>
        </p:nvSpPr>
        <p:spPr>
          <a:xfrm>
            <a:off x="311700" y="1553550"/>
            <a:ext cx="4683300" cy="1281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Can we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reduce error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further?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Can we reduce the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qubit requirement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for that error?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57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Looking at improving Digitisation Methods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1" name="Google Shape;541;p58"/>
          <p:cNvSpPr txBox="1"/>
          <p:nvPr>
            <p:ph idx="1" type="body"/>
          </p:nvPr>
        </p:nvSpPr>
        <p:spPr>
          <a:xfrm>
            <a:off x="5042900" y="1553550"/>
            <a:ext cx="3633900" cy="344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HTET: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Seeks to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incorporate part of truncated space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back into the Hamiltonian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Create an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effective Hamiltonian that approximates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the contributions from the truncated 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58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Looking at improving Digitisation Methods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58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  <p:sp>
        <p:nvSpPr>
          <p:cNvPr id="544" name="Google Shape;544;p58"/>
          <p:cNvSpPr txBox="1"/>
          <p:nvPr>
            <p:ph idx="1" type="body"/>
          </p:nvPr>
        </p:nvSpPr>
        <p:spPr>
          <a:xfrm>
            <a:off x="311700" y="1553550"/>
            <a:ext cx="4683300" cy="1281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Can we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reduce error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further?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Can we reduce the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qubit requirement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for that error?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9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0" name="Google Shape;550;p59"/>
          <p:cNvSpPr txBox="1"/>
          <p:nvPr>
            <p:ph idx="1" type="body"/>
          </p:nvPr>
        </p:nvSpPr>
        <p:spPr>
          <a:xfrm>
            <a:off x="5042900" y="1553550"/>
            <a:ext cx="3633900" cy="344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HTET: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Seeks to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incorporate part of truncated space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back into the Hamiltonian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Create an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effective Hamiltonian that approximates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the contributions from the truncated 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1" name="Google Shape;551;p59" title="He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00" y="3077975"/>
            <a:ext cx="4683302" cy="1402589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9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Looking at improving Digitisation Methods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59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  <p:sp>
        <p:nvSpPr>
          <p:cNvPr id="554" name="Google Shape;554;p59"/>
          <p:cNvSpPr txBox="1"/>
          <p:nvPr>
            <p:ph idx="1" type="body"/>
          </p:nvPr>
        </p:nvSpPr>
        <p:spPr>
          <a:xfrm>
            <a:off x="311700" y="1553550"/>
            <a:ext cx="4683300" cy="1281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Can we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reduce error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further?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Can we reduce the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qubit requirement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for that error?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0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0" name="Google Shape;560;p60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1" name="Google Shape;561;p60"/>
          <p:cNvCxnSpPr>
            <a:stCxn id="562" idx="2"/>
          </p:cNvCxnSpPr>
          <p:nvPr/>
        </p:nvCxnSpPr>
        <p:spPr>
          <a:xfrm>
            <a:off x="4572000" y="5094675"/>
            <a:ext cx="3900" cy="9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3" name="Google Shape;563;p60"/>
          <p:cNvSpPr txBox="1"/>
          <p:nvPr/>
        </p:nvSpPr>
        <p:spPr>
          <a:xfrm>
            <a:off x="0" y="4635600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  <p:pic>
        <p:nvPicPr>
          <p:cNvPr id="564" name="Google Shape;564;p60" title="Heff.png"/>
          <p:cNvPicPr preferRelativeResize="0"/>
          <p:nvPr/>
        </p:nvPicPr>
        <p:blipFill rotWithShape="1">
          <a:blip r:embed="rId3">
            <a:alphaModFix/>
          </a:blip>
          <a:srcRect b="0" l="-1790" r="1790" t="0"/>
          <a:stretch/>
        </p:blipFill>
        <p:spPr>
          <a:xfrm>
            <a:off x="-38950" y="769075"/>
            <a:ext cx="4683302" cy="1402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1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0" name="Google Shape;570;p61" title="Heff.png"/>
          <p:cNvPicPr preferRelativeResize="0"/>
          <p:nvPr/>
        </p:nvPicPr>
        <p:blipFill rotWithShape="1">
          <a:blip r:embed="rId3">
            <a:alphaModFix/>
          </a:blip>
          <a:srcRect b="0" l="-1790" r="1790" t="0"/>
          <a:stretch/>
        </p:blipFill>
        <p:spPr>
          <a:xfrm>
            <a:off x="-38950" y="769075"/>
            <a:ext cx="4683302" cy="1402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1" title="H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4075" y="2419850"/>
            <a:ext cx="4069100" cy="14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61" title="H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93725" y="1563375"/>
            <a:ext cx="4267399" cy="15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61" title="H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457963"/>
            <a:ext cx="9080602" cy="127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61"/>
          <p:cNvSpPr txBox="1"/>
          <p:nvPr/>
        </p:nvSpPr>
        <p:spPr>
          <a:xfrm>
            <a:off x="0" y="4681800"/>
            <a:ext cx="51516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is the region below E</a:t>
            </a:r>
            <a:r>
              <a:rPr baseline="-25000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 is the region above E</a:t>
            </a:r>
            <a:r>
              <a:rPr baseline="-25000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61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61"/>
          <p:cNvSpPr txBox="1"/>
          <p:nvPr/>
        </p:nvSpPr>
        <p:spPr>
          <a:xfrm>
            <a:off x="6537800" y="4632975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2" name="Google Shape;582;p62"/>
          <p:cNvSpPr txBox="1"/>
          <p:nvPr>
            <p:ph idx="1" type="body"/>
          </p:nvPr>
        </p:nvSpPr>
        <p:spPr>
          <a:xfrm>
            <a:off x="5127525" y="1125425"/>
            <a:ext cx="3757500" cy="2669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Significantly H</a:t>
            </a:r>
            <a:r>
              <a:rPr baseline="-25000" lang="en-GB" sz="1500"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Non Hermitian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This is justified for several reason in [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]: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The underlying full Hamiltonian is Hermitian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At physical eigenvalues the effective Hamiltonian reproduces the exact spectrum of the Hermitian Hamiltonian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Asymmetry that causes Non Hermiticity vanishes as E</a:t>
            </a:r>
            <a:r>
              <a:rPr baseline="-25000" lang="en-GB" sz="1500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tends to infinity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62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62"/>
          <p:cNvSpPr txBox="1"/>
          <p:nvPr/>
        </p:nvSpPr>
        <p:spPr>
          <a:xfrm>
            <a:off x="6537800" y="4632975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  <p:pic>
        <p:nvPicPr>
          <p:cNvPr id="585" name="Google Shape;585;p62" title="Heff.png"/>
          <p:cNvPicPr preferRelativeResize="0"/>
          <p:nvPr/>
        </p:nvPicPr>
        <p:blipFill rotWithShape="1">
          <a:blip r:embed="rId3">
            <a:alphaModFix/>
          </a:blip>
          <a:srcRect b="0" l="-1790" r="1790" t="0"/>
          <a:stretch/>
        </p:blipFill>
        <p:spPr>
          <a:xfrm>
            <a:off x="-38950" y="769075"/>
            <a:ext cx="4683302" cy="1402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2" title="H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4075" y="2419850"/>
            <a:ext cx="4069100" cy="14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2" title="H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93725" y="1563375"/>
            <a:ext cx="4267399" cy="15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62" title="H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457963"/>
            <a:ext cx="9080602" cy="127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62"/>
          <p:cNvSpPr txBox="1"/>
          <p:nvPr/>
        </p:nvSpPr>
        <p:spPr>
          <a:xfrm>
            <a:off x="0" y="4681800"/>
            <a:ext cx="51516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is the region below E</a:t>
            </a:r>
            <a:r>
              <a:rPr baseline="-25000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 is the region above E</a:t>
            </a:r>
            <a:r>
              <a:rPr baseline="-25000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3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95" name="Google Shape;595;p63" title="interaction.png"/>
          <p:cNvPicPr preferRelativeResize="0"/>
          <p:nvPr/>
        </p:nvPicPr>
        <p:blipFill rotWithShape="1">
          <a:blip r:embed="rId3">
            <a:alphaModFix/>
          </a:blip>
          <a:srcRect b="20244" l="0" r="0" t="21297"/>
          <a:stretch/>
        </p:blipFill>
        <p:spPr>
          <a:xfrm>
            <a:off x="311700" y="1053125"/>
            <a:ext cx="3595523" cy="7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3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63"/>
          <p:cNvSpPr txBox="1"/>
          <p:nvPr/>
        </p:nvSpPr>
        <p:spPr>
          <a:xfrm>
            <a:off x="6537800" y="4632975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3" name="Google Shape;603;p64" title="interaction.png"/>
          <p:cNvPicPr preferRelativeResize="0"/>
          <p:nvPr/>
        </p:nvPicPr>
        <p:blipFill rotWithShape="1">
          <a:blip r:embed="rId3">
            <a:alphaModFix/>
          </a:blip>
          <a:srcRect b="20244" l="0" r="0" t="21297"/>
          <a:stretch/>
        </p:blipFill>
        <p:spPr>
          <a:xfrm>
            <a:off x="311700" y="1053125"/>
            <a:ext cx="3595523" cy="7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64" title="HTET 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692700"/>
            <a:ext cx="6059500" cy="13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4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64"/>
          <p:cNvSpPr txBox="1"/>
          <p:nvPr/>
        </p:nvSpPr>
        <p:spPr>
          <a:xfrm>
            <a:off x="6537800" y="4632975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5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2" name="Google Shape;612;p65" title="interaction.png"/>
          <p:cNvPicPr preferRelativeResize="0"/>
          <p:nvPr/>
        </p:nvPicPr>
        <p:blipFill rotWithShape="1">
          <a:blip r:embed="rId3">
            <a:alphaModFix/>
          </a:blip>
          <a:srcRect b="20244" l="0" r="0" t="21297"/>
          <a:stretch/>
        </p:blipFill>
        <p:spPr>
          <a:xfrm>
            <a:off x="311700" y="1053125"/>
            <a:ext cx="3595523" cy="7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5" title="HTET 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692700"/>
            <a:ext cx="6059500" cy="13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5"/>
          <p:cNvSpPr/>
          <p:nvPr/>
        </p:nvSpPr>
        <p:spPr>
          <a:xfrm>
            <a:off x="2141225" y="1104900"/>
            <a:ext cx="602100" cy="64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65"/>
          <p:cNvSpPr/>
          <p:nvPr/>
        </p:nvSpPr>
        <p:spPr>
          <a:xfrm>
            <a:off x="2110750" y="2049775"/>
            <a:ext cx="3124200" cy="6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6" name="Google Shape;616;p65"/>
          <p:cNvCxnSpPr/>
          <p:nvPr/>
        </p:nvCxnSpPr>
        <p:spPr>
          <a:xfrm flipH="1">
            <a:off x="2110625" y="1744975"/>
            <a:ext cx="30600" cy="30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65"/>
          <p:cNvCxnSpPr/>
          <p:nvPr/>
        </p:nvCxnSpPr>
        <p:spPr>
          <a:xfrm>
            <a:off x="2750825" y="1752600"/>
            <a:ext cx="2491800" cy="29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65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r>
              <a:rPr baseline="-25000" lang="en-GB" sz="2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65"/>
          <p:cNvSpPr txBox="1"/>
          <p:nvPr/>
        </p:nvSpPr>
        <p:spPr>
          <a:xfrm>
            <a:off x="6537800" y="4632975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  <p:sp>
        <p:nvSpPr>
          <p:cNvPr id="620" name="Google Shape;620;p65"/>
          <p:cNvSpPr txBox="1"/>
          <p:nvPr>
            <p:ph idx="1" type="body"/>
          </p:nvPr>
        </p:nvSpPr>
        <p:spPr>
          <a:xfrm>
            <a:off x="311700" y="2817075"/>
            <a:ext cx="8365200" cy="1854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Why we introduce ω here: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At finite E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results depend on basis choice, by varying ω we can optimise convergence and minimise truncation error (this is the same as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ω in HO basis)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Allows us to define H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V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residual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also set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b="1"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6" name="Google Shape;626;p66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- What is it?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7" name="Google Shape;627;p66" title="interaction.png"/>
          <p:cNvPicPr preferRelativeResize="0"/>
          <p:nvPr/>
        </p:nvPicPr>
        <p:blipFill rotWithShape="1">
          <a:blip r:embed="rId3">
            <a:alphaModFix/>
          </a:blip>
          <a:srcRect b="20244" l="0" r="0" t="21297"/>
          <a:stretch/>
        </p:blipFill>
        <p:spPr>
          <a:xfrm>
            <a:off x="311700" y="1053125"/>
            <a:ext cx="3595523" cy="7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6" title="HTET 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692700"/>
            <a:ext cx="6059500" cy="13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6"/>
          <p:cNvSpPr/>
          <p:nvPr/>
        </p:nvSpPr>
        <p:spPr>
          <a:xfrm>
            <a:off x="3403550" y="1938350"/>
            <a:ext cx="3045000" cy="827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6"/>
          <p:cNvSpPr txBox="1"/>
          <p:nvPr>
            <p:ph idx="1" type="body"/>
          </p:nvPr>
        </p:nvSpPr>
        <p:spPr>
          <a:xfrm>
            <a:off x="6772625" y="2138900"/>
            <a:ext cx="1860900" cy="50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300">
                <a:latin typeface="Times New Roman"/>
                <a:ea typeface="Times New Roman"/>
                <a:cs typeface="Times New Roman"/>
                <a:sym typeface="Times New Roman"/>
              </a:rPr>
              <a:t>Potential (V)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66"/>
          <p:cNvSpPr txBox="1"/>
          <p:nvPr/>
        </p:nvSpPr>
        <p:spPr>
          <a:xfrm>
            <a:off x="6537800" y="4632975"/>
            <a:ext cx="2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[2] - T. Cohen, K. Farnsworth, R. Houtz, and M. Luty, Hamiltonian truncation effective theory, SciPost Physics 13, 10.21468/scipostphys.13.2.011 (2022). </a:t>
            </a:r>
            <a:endParaRPr/>
          </a:p>
        </p:txBody>
      </p:sp>
      <p:sp>
        <p:nvSpPr>
          <p:cNvPr id="632" name="Google Shape;632;p66"/>
          <p:cNvSpPr txBox="1"/>
          <p:nvPr>
            <p:ph idx="1" type="body"/>
          </p:nvPr>
        </p:nvSpPr>
        <p:spPr>
          <a:xfrm>
            <a:off x="311700" y="2817075"/>
            <a:ext cx="8365200" cy="1854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Why we introduce ω here: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At finite E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results depend on basis choice, by varying ω we can optimise convergence and minimise truncation error (this is the same as the ω in HO basis)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Allows us to define H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V</a:t>
            </a:r>
            <a:r>
              <a:rPr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residual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also set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b="1" baseline="-25000" lang="en-GB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7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8" name="Google Shape;638;p67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9" name="Google Shape;639;p67" title="image_2026-03-03_0753287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63050"/>
            <a:ext cx="5090875" cy="406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0" name="Google Shape;640;p67"/>
          <p:cNvSpPr txBox="1"/>
          <p:nvPr>
            <p:ph idx="1" type="body"/>
          </p:nvPr>
        </p:nvSpPr>
        <p:spPr>
          <a:xfrm>
            <a:off x="5545850" y="1257300"/>
            <a:ext cx="3461100" cy="1314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1695">
                <a:latin typeface="Times New Roman"/>
                <a:ea typeface="Times New Roman"/>
                <a:cs typeface="Times New Roman"/>
                <a:sym typeface="Times New Roman"/>
              </a:rPr>
              <a:t>- Large errors at a critical E</a:t>
            </a:r>
            <a:r>
              <a:rPr baseline="-25000" lang="en-GB" sz="1695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1695">
                <a:latin typeface="Times New Roman"/>
                <a:ea typeface="Times New Roman"/>
                <a:cs typeface="Times New Roman"/>
                <a:sym typeface="Times New Roman"/>
              </a:rPr>
              <a:t> as denominators become small</a:t>
            </a:r>
            <a:endParaRPr sz="16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695">
                <a:latin typeface="Times New Roman"/>
                <a:ea typeface="Times New Roman"/>
                <a:cs typeface="Times New Roman"/>
                <a:sym typeface="Times New Roman"/>
              </a:rPr>
              <a:t>- H1 mimics structure seen in </a:t>
            </a:r>
            <a:r>
              <a:rPr baseline="-25000" lang="en-GB" sz="1695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baseline="-25000" sz="16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aseline="-25000" sz="16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67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[1] - N. Klco and M. J. Savage, Digitization of scalar fields for quantum computing, Physical Review A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99, 10.1103/physreva.99.052335 (2019).</a:t>
            </a:r>
            <a:endParaRPr/>
          </a:p>
        </p:txBody>
      </p:sp>
      <p:pic>
        <p:nvPicPr>
          <p:cNvPr id="642" name="Google Shape;642;p67" title="H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4925" y="2688450"/>
            <a:ext cx="2442938" cy="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67"/>
          <p:cNvSpPr/>
          <p:nvPr/>
        </p:nvSpPr>
        <p:spPr>
          <a:xfrm>
            <a:off x="7813850" y="3114050"/>
            <a:ext cx="517800" cy="205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8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9" name="Google Shape;649;p68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0" name="Google Shape;650;p68" title="image_2026-03-03_07534877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06425"/>
            <a:ext cx="5090875" cy="4042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651" name="Google Shape;651;p68"/>
          <p:cNvGraphicFramePr/>
          <p:nvPr/>
        </p:nvGraphicFramePr>
        <p:xfrm>
          <a:off x="5618000" y="263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{641C96C4-1DB2-4743-AA30-C3B6DC022440}</a:tableStyleId>
              </a:tblPr>
              <a:tblGrid>
                <a:gridCol w="439925"/>
                <a:gridCol w="1523625"/>
              </a:tblGrid>
              <a:tr h="48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baseline="-25000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 minimum error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4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34.17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4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2" name="Google Shape;652;p68"/>
          <p:cNvSpPr txBox="1"/>
          <p:nvPr>
            <p:ph idx="1" type="body"/>
          </p:nvPr>
        </p:nvSpPr>
        <p:spPr>
          <a:xfrm>
            <a:off x="5568700" y="1120150"/>
            <a:ext cx="3461100" cy="138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- Large errors at small E</a:t>
            </a:r>
            <a:r>
              <a:rPr baseline="-25000" lang="en-GB" sz="1300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as denominators become small as E</a:t>
            </a:r>
            <a:r>
              <a:rPr baseline="-25000" lang="en-GB" sz="1300"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-&gt; E</a:t>
            </a:r>
            <a:r>
              <a:rPr baseline="-25000" lang="en-GB" sz="13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- H3 achieves a minimum error at a lower number of qubits than H2 than H1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- Agreement with literature</a:t>
            </a:r>
            <a:r>
              <a:rPr baseline="-25000" lang="en-GB" sz="1300"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that HTET is viable for NISQ era devices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68"/>
          <p:cNvSpPr txBox="1"/>
          <p:nvPr/>
        </p:nvSpPr>
        <p:spPr>
          <a:xfrm>
            <a:off x="6537800" y="4632975"/>
            <a:ext cx="26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[3] - </a:t>
            </a:r>
            <a:r>
              <a:rPr lang="en-GB" sz="700">
                <a:solidFill>
                  <a:schemeClr val="dk1"/>
                </a:solidFill>
              </a:rPr>
              <a:t>S. Williams, Simulating quantum field theories on near-term quantum devices, International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Journal of Modern Physics A 40, 26 (2025).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pic>
        <p:nvPicPr>
          <p:cNvPr id="654" name="Google Shape;654;p68" title="H2.png"/>
          <p:cNvPicPr preferRelativeResize="0"/>
          <p:nvPr/>
        </p:nvPicPr>
        <p:blipFill rotWithShape="1">
          <a:blip r:embed="rId4">
            <a:alphaModFix/>
          </a:blip>
          <a:srcRect b="0" l="42200" r="0" t="0"/>
          <a:stretch/>
        </p:blipFill>
        <p:spPr>
          <a:xfrm>
            <a:off x="7739851" y="2725025"/>
            <a:ext cx="1289948" cy="8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68"/>
          <p:cNvSpPr/>
          <p:nvPr/>
        </p:nvSpPr>
        <p:spPr>
          <a:xfrm>
            <a:off x="8380775" y="3105825"/>
            <a:ext cx="517800" cy="205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9"/>
          <p:cNvSpPr txBox="1"/>
          <p:nvPr/>
        </p:nvSpPr>
        <p:spPr>
          <a:xfrm>
            <a:off x="8676800" y="0"/>
            <a:ext cx="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1" name="Google Shape;661;p69"/>
          <p:cNvSpPr txBox="1"/>
          <p:nvPr>
            <p:ph type="title"/>
          </p:nvPr>
        </p:nvSpPr>
        <p:spPr>
          <a:xfrm>
            <a:off x="311700" y="445025"/>
            <a:ext cx="85206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2" name="Google Shape;662;p69" title="image_2026-03-03_000923018.png"/>
          <p:cNvPicPr preferRelativeResize="0"/>
          <p:nvPr/>
        </p:nvPicPr>
        <p:blipFill rotWithShape="1">
          <a:blip r:embed="rId3">
            <a:alphaModFix/>
          </a:blip>
          <a:srcRect b="0" l="199" r="199" t="0"/>
          <a:stretch/>
        </p:blipFill>
        <p:spPr>
          <a:xfrm>
            <a:off x="157250" y="924300"/>
            <a:ext cx="5733023" cy="41328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3" name="Google Shape;663;p69"/>
          <p:cNvGraphicFramePr/>
          <p:nvPr/>
        </p:nvGraphicFramePr>
        <p:xfrm>
          <a:off x="6035050" y="305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{641C96C4-1DB2-4743-AA30-C3B6DC022440}</a:tableStyleId>
              </a:tblPr>
              <a:tblGrid>
                <a:gridCol w="545175"/>
                <a:gridCol w="2252075"/>
              </a:tblGrid>
              <a:tr h="25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baseline="-25000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minimum error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0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37.31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5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5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4" name="Google Shape;664;p69"/>
          <p:cNvSpPr txBox="1"/>
          <p:nvPr>
            <p:ph idx="1" type="body"/>
          </p:nvPr>
        </p:nvSpPr>
        <p:spPr>
          <a:xfrm>
            <a:off x="6035050" y="1257300"/>
            <a:ext cx="2797200" cy="1607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General expected structure from previous two graphs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H3 achieves a minimum error at a lower number of qubits than H2 than H1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Lowest values of error depend on choice of ω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0"/>
          <p:cNvSpPr txBox="1"/>
          <p:nvPr>
            <p:ph type="title"/>
          </p:nvPr>
        </p:nvSpPr>
        <p:spPr>
          <a:xfrm>
            <a:off x="311700" y="445025"/>
            <a:ext cx="85206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Goal: </a:t>
            </a:r>
            <a:r>
              <a:rPr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whether </a:t>
            </a:r>
            <a:r>
              <a:rPr b="1"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Hamiltonian Truncation Effective Theory </a:t>
            </a:r>
            <a:r>
              <a:rPr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</a:t>
            </a:r>
            <a:r>
              <a:rPr b="1"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digitisation errors</a:t>
            </a:r>
            <a:r>
              <a:rPr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and/or </a:t>
            </a:r>
            <a:r>
              <a:rPr b="1"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qubit requirements</a:t>
            </a:r>
            <a:r>
              <a:rPr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compared to basic </a:t>
            </a:r>
            <a:r>
              <a:rPr b="1"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JLP and HO basis methods </a:t>
            </a:r>
            <a:r>
              <a:rPr lang="en-GB" sz="202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0+1D scalar field theory</a:t>
            </a:r>
            <a:endParaRPr sz="202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70"/>
          <p:cNvSpPr txBox="1"/>
          <p:nvPr>
            <p:ph type="title"/>
          </p:nvPr>
        </p:nvSpPr>
        <p:spPr>
          <a:xfrm>
            <a:off x="311700" y="1638300"/>
            <a:ext cx="85206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We looked at: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6870" lvl="0" marL="457200" rtl="0" algn="l">
              <a:spcBef>
                <a:spcPts val="0"/>
              </a:spcBef>
              <a:spcAft>
                <a:spcPts val="0"/>
              </a:spcAft>
              <a:buSzPts val="2020"/>
              <a:buFont typeface="Times New Roman"/>
              <a:buChar char="-"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What digitisation is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6870" lvl="0" marL="457200" rtl="0" algn="l">
              <a:spcBef>
                <a:spcPts val="0"/>
              </a:spcBef>
              <a:spcAft>
                <a:spcPts val="0"/>
              </a:spcAft>
              <a:buSzPts val="2020"/>
              <a:buFont typeface="Times New Roman"/>
              <a:buChar char="-"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Methods of digitisation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6870" lvl="0" marL="457200" rtl="0" algn="l">
              <a:spcBef>
                <a:spcPts val="0"/>
              </a:spcBef>
              <a:spcAft>
                <a:spcPts val="0"/>
              </a:spcAft>
              <a:buSzPts val="2020"/>
              <a:buFont typeface="Times New Roman"/>
              <a:buChar char="-"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Which of JLP or HO basis had reduced </a:t>
            </a: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errors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6870" lvl="0" marL="457200" rtl="0" algn="l">
              <a:spcBef>
                <a:spcPts val="0"/>
              </a:spcBef>
              <a:spcAft>
                <a:spcPts val="0"/>
              </a:spcAft>
              <a:buSzPts val="2020"/>
              <a:buFont typeface="Times New Roman"/>
              <a:buChar char="-"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What Hamiltonian Truncation Effective Theory is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6870" lvl="0" marL="457200" rtl="0" algn="l">
              <a:spcBef>
                <a:spcPts val="0"/>
              </a:spcBef>
              <a:spcAft>
                <a:spcPts val="0"/>
              </a:spcAft>
              <a:buSzPts val="2020"/>
              <a:buFont typeface="Times New Roman"/>
              <a:buChar char="-"/>
            </a:pPr>
            <a:r>
              <a:rPr lang="en-GB" sz="2020">
                <a:latin typeface="Times New Roman"/>
                <a:ea typeface="Times New Roman"/>
                <a:cs typeface="Times New Roman"/>
                <a:sym typeface="Times New Roman"/>
              </a:rPr>
              <a:t>Can it be effective in reducing the errors of digitisation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70"/>
          <p:cNvSpPr txBox="1"/>
          <p:nvPr/>
        </p:nvSpPr>
        <p:spPr>
          <a:xfrm>
            <a:off x="586750" y="3832850"/>
            <a:ext cx="774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HTET can reduce digitisation and/or qubit requirements within 0+1D compared to digitisation methods </a:t>
            </a:r>
            <a:r>
              <a:rPr b="1" lang="en-GB" sz="1800">
                <a:solidFill>
                  <a:schemeClr val="dk2"/>
                </a:solidFill>
              </a:rPr>
              <a:t>provided </a:t>
            </a:r>
            <a:r>
              <a:rPr b="1" lang="en-GB" sz="1800">
                <a:solidFill>
                  <a:schemeClr val="dk2"/>
                </a:solidFill>
              </a:rPr>
              <a:t>you are able to correctly tune ω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672" name="Google Shape;672;p70"/>
          <p:cNvSpPr txBox="1"/>
          <p:nvPr/>
        </p:nvSpPr>
        <p:spPr>
          <a:xfrm>
            <a:off x="8618225" y="0"/>
            <a:ext cx="5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18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