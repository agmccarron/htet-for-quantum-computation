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9c550869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9c550869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9c550869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9c55086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9c550869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9c550869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9c550869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9c550869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9c550869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9c550869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9c550869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9c550869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9c550869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9c550869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9c550869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9c550869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9c550869d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9c550869d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9c550869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9c550869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9c550869d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9c550869d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9c550869d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9c550869d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9c550869d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9c550869d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9c550869d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b9c550869d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9c550869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9c550869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9c550869d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b9c550869d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9c550869d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9c550869d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9c550869d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9c550869d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9c550869d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9c550869d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9c550869d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9c550869d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9c550869d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b9c550869d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9c550869d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9c550869d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9c550869d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b9c550869d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9c550869d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b9c550869d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9c550869d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9c550869d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9c550869d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b9c550869d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9c550869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b9c550869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9c550869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b9c550869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9c550869d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b9c550869d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b9c550869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b9c550869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1" Type="http://schemas.openxmlformats.org/officeDocument/2006/relationships/image" Target="../media/image11.png"/><Relationship Id="rId10" Type="http://schemas.openxmlformats.org/officeDocument/2006/relationships/image" Target="../media/image20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10" Type="http://schemas.openxmlformats.org/officeDocument/2006/relationships/image" Target="../media/image18.png"/><Relationship Id="rId9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10" Type="http://schemas.openxmlformats.org/officeDocument/2006/relationships/image" Target="../media/image18.png"/><Relationship Id="rId9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image" Target="../media/image18.png"/><Relationship Id="rId5" Type="http://schemas.openxmlformats.org/officeDocument/2006/relationships/image" Target="../media/image32.png"/><Relationship Id="rId6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5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Investigation into QFT Digitisation Methods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Quantum Computers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Why?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Noisy Intermediate-Scale Quantum era (NISQ Era)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QFT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Other Errors (Digitisation)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What’s already been done?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[1] </a:t>
            </a:r>
            <a:r>
              <a:rPr lang="en-GB"/>
              <a:t>Digitization of Scalar Fields for Quantum Computing by </a:t>
            </a:r>
            <a:r>
              <a:rPr lang="en-GB"/>
              <a:t>Klco and Savage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More Foundational Works: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[2] </a:t>
            </a:r>
            <a:r>
              <a:rPr lang="en-GB"/>
              <a:t>Quantum Algorithms for Quantum Field Theories by Jordan, Lee and Preskill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[3] Simulating collider physics on quantum computers using effective field theories by Bauer and Nachman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[4] Quantum simulations of one dimensional quantum systems by Somma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Isolate digitisation errors</a:t>
            </a:r>
            <a:br>
              <a:rPr lang="en-GB"/>
            </a:br>
            <a:r>
              <a:rPr lang="en-GB"/>
              <a:t>- Use known ground state energies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88" y="2417975"/>
            <a:ext cx="389572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5513" y="2513225"/>
            <a:ext cx="46767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Qubits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a given Quantum Computer: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w</a:t>
            </a:r>
            <a:r>
              <a:rPr lang="en-GB"/>
              <a:t>here n</a:t>
            </a:r>
            <a:r>
              <a:rPr baseline="-25000" lang="en-GB"/>
              <a:t>s </a:t>
            </a:r>
            <a:r>
              <a:rPr lang="en-GB"/>
              <a:t> is the number of possible states able to be represented by a number of qubits n</a:t>
            </a:r>
            <a:r>
              <a:rPr baseline="-25000" lang="en-GB"/>
              <a:t>Q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0063" y="1836025"/>
            <a:ext cx="21431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000" y="3079050"/>
            <a:ext cx="364900" cy="29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4778" y="3375525"/>
            <a:ext cx="364900" cy="321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 Methods of Digitisation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Jordan-Lee-Preskill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Finite Difference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Harmonic Oscillator Basis</a:t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8268675" y="65700"/>
            <a:ext cx="7224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[1,2]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Jordan-Lee-Preskill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723" y="1083875"/>
            <a:ext cx="1376425" cy="398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5273" y="2571750"/>
            <a:ext cx="23812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9"/>
          <p:cNvCxnSpPr/>
          <p:nvPr/>
        </p:nvCxnSpPr>
        <p:spPr>
          <a:xfrm rot="10800000">
            <a:off x="5222335" y="1108650"/>
            <a:ext cx="12000" cy="14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9"/>
          <p:cNvCxnSpPr>
            <a:stCxn id="97" idx="2"/>
          </p:cNvCxnSpPr>
          <p:nvPr/>
        </p:nvCxnSpPr>
        <p:spPr>
          <a:xfrm>
            <a:off x="5234335" y="3028950"/>
            <a:ext cx="12600" cy="19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9"/>
          <p:cNvSpPr txBox="1"/>
          <p:nvPr/>
        </p:nvSpPr>
        <p:spPr>
          <a:xfrm>
            <a:off x="5353400" y="4469300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-∞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5353400" y="869175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+</a:t>
            </a:r>
            <a:r>
              <a:rPr lang="en-GB" sz="2700">
                <a:solidFill>
                  <a:schemeClr val="dk2"/>
                </a:solidFill>
              </a:rPr>
              <a:t>∞</a:t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Jordan-Lee-Preskill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273" y="2571750"/>
            <a:ext cx="23812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20"/>
          <p:cNvCxnSpPr/>
          <p:nvPr/>
        </p:nvCxnSpPr>
        <p:spPr>
          <a:xfrm rot="10800000">
            <a:off x="5222335" y="1108650"/>
            <a:ext cx="12000" cy="14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20"/>
          <p:cNvCxnSpPr>
            <a:stCxn id="107" idx="2"/>
          </p:cNvCxnSpPr>
          <p:nvPr/>
        </p:nvCxnSpPr>
        <p:spPr>
          <a:xfrm>
            <a:off x="5234335" y="3028950"/>
            <a:ext cx="12600" cy="19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20"/>
          <p:cNvSpPr txBox="1"/>
          <p:nvPr/>
        </p:nvSpPr>
        <p:spPr>
          <a:xfrm>
            <a:off x="5353400" y="4469300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-∞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5353400" y="869175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+∞</a:t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 rotWithShape="1">
          <a:blip r:embed="rId4">
            <a:alphaModFix/>
          </a:blip>
          <a:srcRect b="859" l="0" r="0" t="-860"/>
          <a:stretch/>
        </p:blipFill>
        <p:spPr>
          <a:xfrm flipH="1">
            <a:off x="1827000" y="1166250"/>
            <a:ext cx="295982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4723" y="1083875"/>
            <a:ext cx="1376425" cy="398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13016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16573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1145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50310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9274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32831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37403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412890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8299" y="4553250"/>
            <a:ext cx="51515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Jordan-Lee-Preskill</a:t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273" y="2571750"/>
            <a:ext cx="23812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21"/>
          <p:cNvCxnSpPr/>
          <p:nvPr/>
        </p:nvCxnSpPr>
        <p:spPr>
          <a:xfrm rot="10800000">
            <a:off x="5222335" y="1108650"/>
            <a:ext cx="12000" cy="14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21"/>
          <p:cNvCxnSpPr>
            <a:stCxn id="128" idx="2"/>
          </p:cNvCxnSpPr>
          <p:nvPr/>
        </p:nvCxnSpPr>
        <p:spPr>
          <a:xfrm>
            <a:off x="5234335" y="3028950"/>
            <a:ext cx="12600" cy="19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21"/>
          <p:cNvSpPr txBox="1"/>
          <p:nvPr/>
        </p:nvSpPr>
        <p:spPr>
          <a:xfrm>
            <a:off x="5353400" y="4469300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-∞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5353400" y="869175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+∞</a:t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 rotWithShape="1">
          <a:blip r:embed="rId4">
            <a:alphaModFix/>
          </a:blip>
          <a:srcRect b="859" l="0" r="0" t="-860"/>
          <a:stretch/>
        </p:blipFill>
        <p:spPr>
          <a:xfrm flipH="1">
            <a:off x="1843425" y="1108650"/>
            <a:ext cx="295982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4723" y="1083875"/>
            <a:ext cx="1376425" cy="398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13016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16573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1145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50310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9274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32831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37403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412890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8299" y="4553250"/>
            <a:ext cx="51515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21"/>
          <p:cNvCxnSpPr/>
          <p:nvPr/>
        </p:nvCxnSpPr>
        <p:spPr>
          <a:xfrm>
            <a:off x="5228048" y="3028950"/>
            <a:ext cx="10800" cy="10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5" name="Google Shape;145;p21"/>
          <p:cNvCxnSpPr/>
          <p:nvPr/>
        </p:nvCxnSpPr>
        <p:spPr>
          <a:xfrm rot="10800000">
            <a:off x="5230435" y="1666950"/>
            <a:ext cx="3900" cy="9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146" name="Google Shape;146;p21"/>
          <p:cNvPicPr preferRelativeResize="0"/>
          <p:nvPr/>
        </p:nvPicPr>
        <p:blipFill rotWithShape="1">
          <a:blip r:embed="rId7">
            <a:alphaModFix/>
          </a:blip>
          <a:srcRect b="18470" l="16444" r="13098" t="21581"/>
          <a:stretch/>
        </p:blipFill>
        <p:spPr>
          <a:xfrm>
            <a:off x="5353400" y="1576575"/>
            <a:ext cx="714375" cy="3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92350" y="3920900"/>
            <a:ext cx="956388" cy="49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Jordan-Lee-Preskill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273" y="2571750"/>
            <a:ext cx="23812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22"/>
          <p:cNvCxnSpPr/>
          <p:nvPr/>
        </p:nvCxnSpPr>
        <p:spPr>
          <a:xfrm rot="10800000">
            <a:off x="5222335" y="1108650"/>
            <a:ext cx="12000" cy="14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2"/>
          <p:cNvCxnSpPr>
            <a:stCxn id="153" idx="2"/>
          </p:cNvCxnSpPr>
          <p:nvPr/>
        </p:nvCxnSpPr>
        <p:spPr>
          <a:xfrm>
            <a:off x="5234335" y="3028950"/>
            <a:ext cx="12600" cy="19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2"/>
          <p:cNvSpPr txBox="1"/>
          <p:nvPr/>
        </p:nvSpPr>
        <p:spPr>
          <a:xfrm>
            <a:off x="5353400" y="4469300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-∞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5353400" y="869175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+∞</a:t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158" name="Google Shape;158;p22"/>
          <p:cNvPicPr preferRelativeResize="0"/>
          <p:nvPr/>
        </p:nvPicPr>
        <p:blipFill rotWithShape="1">
          <a:blip r:embed="rId4">
            <a:alphaModFix/>
          </a:blip>
          <a:srcRect b="859" l="0" r="0" t="-860"/>
          <a:stretch/>
        </p:blipFill>
        <p:spPr>
          <a:xfrm flipH="1">
            <a:off x="1843425" y="1108650"/>
            <a:ext cx="295982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4723" y="1083875"/>
            <a:ext cx="1376425" cy="398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13016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16573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1145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50310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9274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32831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37403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412890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8299" y="4553250"/>
            <a:ext cx="51515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2"/>
          <p:cNvCxnSpPr/>
          <p:nvPr/>
        </p:nvCxnSpPr>
        <p:spPr>
          <a:xfrm>
            <a:off x="5228048" y="3028950"/>
            <a:ext cx="10800" cy="10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0" name="Google Shape;170;p22"/>
          <p:cNvCxnSpPr/>
          <p:nvPr/>
        </p:nvCxnSpPr>
        <p:spPr>
          <a:xfrm rot="10800000">
            <a:off x="5230435" y="1666950"/>
            <a:ext cx="3900" cy="9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171" name="Google Shape;171;p22"/>
          <p:cNvPicPr preferRelativeResize="0"/>
          <p:nvPr/>
        </p:nvPicPr>
        <p:blipFill rotWithShape="1">
          <a:blip r:embed="rId7">
            <a:alphaModFix/>
          </a:blip>
          <a:srcRect b="18470" l="16444" r="13098" t="21581"/>
          <a:stretch/>
        </p:blipFill>
        <p:spPr>
          <a:xfrm>
            <a:off x="5353400" y="1576575"/>
            <a:ext cx="714375" cy="3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92350" y="3920900"/>
            <a:ext cx="956388" cy="49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39891" y="2197400"/>
            <a:ext cx="2092408" cy="10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Jordan-Lee-Preskill</a:t>
            </a:r>
            <a:endParaRPr/>
          </a:p>
        </p:txBody>
      </p:sp>
      <p:pic>
        <p:nvPicPr>
          <p:cNvPr id="179" name="Google Shape;17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523" y="2579975"/>
            <a:ext cx="23812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23"/>
          <p:cNvCxnSpPr/>
          <p:nvPr/>
        </p:nvCxnSpPr>
        <p:spPr>
          <a:xfrm rot="10800000">
            <a:off x="3928585" y="1116875"/>
            <a:ext cx="12000" cy="14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3"/>
          <p:cNvCxnSpPr>
            <a:stCxn id="179" idx="2"/>
          </p:cNvCxnSpPr>
          <p:nvPr/>
        </p:nvCxnSpPr>
        <p:spPr>
          <a:xfrm>
            <a:off x="3940585" y="3037175"/>
            <a:ext cx="12600" cy="19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3"/>
          <p:cNvSpPr txBox="1"/>
          <p:nvPr/>
        </p:nvSpPr>
        <p:spPr>
          <a:xfrm>
            <a:off x="4059650" y="4477525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-∞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4059650" y="877400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+∞</a:t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184" name="Google Shape;184;p23"/>
          <p:cNvPicPr preferRelativeResize="0"/>
          <p:nvPr/>
        </p:nvPicPr>
        <p:blipFill rotWithShape="1">
          <a:blip r:embed="rId4">
            <a:alphaModFix/>
          </a:blip>
          <a:srcRect b="859" l="0" r="0" t="-860"/>
          <a:stretch/>
        </p:blipFill>
        <p:spPr>
          <a:xfrm flipH="1">
            <a:off x="549675" y="1116875"/>
            <a:ext cx="295982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0973" y="1092100"/>
            <a:ext cx="1376425" cy="398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1309875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1665575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2122775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2511325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2935675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3291375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3748575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4137125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549" y="4561475"/>
            <a:ext cx="51515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3"/>
          <p:cNvCxnSpPr/>
          <p:nvPr/>
        </p:nvCxnSpPr>
        <p:spPr>
          <a:xfrm>
            <a:off x="3934298" y="3037175"/>
            <a:ext cx="10800" cy="10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6" name="Google Shape;196;p23"/>
          <p:cNvCxnSpPr/>
          <p:nvPr/>
        </p:nvCxnSpPr>
        <p:spPr>
          <a:xfrm rot="10800000">
            <a:off x="3936685" y="1675175"/>
            <a:ext cx="3900" cy="9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197" name="Google Shape;197;p23"/>
          <p:cNvPicPr preferRelativeResize="0"/>
          <p:nvPr/>
        </p:nvPicPr>
        <p:blipFill rotWithShape="1">
          <a:blip r:embed="rId7">
            <a:alphaModFix/>
          </a:blip>
          <a:srcRect b="18470" l="16444" r="13098" t="21581"/>
          <a:stretch/>
        </p:blipFill>
        <p:spPr>
          <a:xfrm>
            <a:off x="4059650" y="1584800"/>
            <a:ext cx="714375" cy="3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8600" y="3929125"/>
            <a:ext cx="956388" cy="49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98813" y="2167988"/>
            <a:ext cx="389572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78775" y="1299113"/>
            <a:ext cx="1190124" cy="119012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/>
          <p:nvPr/>
        </p:nvSpPr>
        <p:spPr>
          <a:xfrm rot="5400000">
            <a:off x="6522625" y="1897625"/>
            <a:ext cx="739500" cy="45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3"/>
          <p:cNvCxnSpPr/>
          <p:nvPr/>
        </p:nvCxnSpPr>
        <p:spPr>
          <a:xfrm>
            <a:off x="8244050" y="3415850"/>
            <a:ext cx="24600" cy="96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3"/>
          <p:cNvSpPr txBox="1"/>
          <p:nvPr/>
        </p:nvSpPr>
        <p:spPr>
          <a:xfrm>
            <a:off x="5337050" y="4376450"/>
            <a:ext cx="410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(constructed as diagonal matrix of values of     )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204" name="Google Shape;204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697975" y="4442324"/>
            <a:ext cx="134325" cy="25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Jordan-Lee-Preskill</a:t>
            </a:r>
            <a:endParaRPr/>
          </a:p>
        </p:txBody>
      </p:sp>
      <p:cxnSp>
        <p:nvCxnSpPr>
          <p:cNvPr id="210" name="Google Shape;210;p24"/>
          <p:cNvCxnSpPr/>
          <p:nvPr/>
        </p:nvCxnSpPr>
        <p:spPr>
          <a:xfrm rot="10800000">
            <a:off x="3928585" y="1116875"/>
            <a:ext cx="12000" cy="14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4"/>
          <p:cNvCxnSpPr>
            <a:stCxn id="212" idx="2"/>
          </p:cNvCxnSpPr>
          <p:nvPr/>
        </p:nvCxnSpPr>
        <p:spPr>
          <a:xfrm>
            <a:off x="3940585" y="3037175"/>
            <a:ext cx="12600" cy="19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24"/>
          <p:cNvSpPr txBox="1"/>
          <p:nvPr/>
        </p:nvSpPr>
        <p:spPr>
          <a:xfrm>
            <a:off x="4059650" y="4477525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-∞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4059650" y="877400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+∞</a:t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215" name="Google Shape;215;p24"/>
          <p:cNvPicPr preferRelativeResize="0"/>
          <p:nvPr/>
        </p:nvPicPr>
        <p:blipFill rotWithShape="1">
          <a:blip r:embed="rId3">
            <a:alphaModFix/>
          </a:blip>
          <a:srcRect b="859" l="0" r="0" t="-860"/>
          <a:stretch/>
        </p:blipFill>
        <p:spPr>
          <a:xfrm flipH="1">
            <a:off x="549675" y="1116875"/>
            <a:ext cx="295982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0973" y="1092100"/>
            <a:ext cx="1376425" cy="3985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24"/>
          <p:cNvCxnSpPr/>
          <p:nvPr/>
        </p:nvCxnSpPr>
        <p:spPr>
          <a:xfrm>
            <a:off x="3934298" y="3037175"/>
            <a:ext cx="10800" cy="10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8" name="Google Shape;218;p24"/>
          <p:cNvCxnSpPr/>
          <p:nvPr/>
        </p:nvCxnSpPr>
        <p:spPr>
          <a:xfrm rot="10800000">
            <a:off x="3936685" y="1675175"/>
            <a:ext cx="3900" cy="9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219" name="Google Shape;219;p24"/>
          <p:cNvPicPr preferRelativeResize="0"/>
          <p:nvPr/>
        </p:nvPicPr>
        <p:blipFill rotWithShape="1">
          <a:blip r:embed="rId5">
            <a:alphaModFix/>
          </a:blip>
          <a:srcRect b="-8375" l="0" r="-51630" t="17341"/>
          <a:stretch/>
        </p:blipFill>
        <p:spPr>
          <a:xfrm>
            <a:off x="3748837" y="2664238"/>
            <a:ext cx="563250" cy="48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3250" y="1424675"/>
            <a:ext cx="802969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 rotWithShape="1">
          <a:blip r:embed="rId7">
            <a:alphaModFix/>
          </a:blip>
          <a:srcRect b="0" l="8256" r="0" t="0"/>
          <a:stretch/>
        </p:blipFill>
        <p:spPr>
          <a:xfrm>
            <a:off x="4023250" y="3879800"/>
            <a:ext cx="802975" cy="48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1219400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1595150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1993900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2831688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2401088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3251438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3636638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4035363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4431288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66375" y="3105147"/>
            <a:ext cx="2115346" cy="10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88100" y="1725950"/>
            <a:ext cx="1993627" cy="9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Jordan-Lee-Preskill</a:t>
            </a:r>
            <a:endParaRPr/>
          </a:p>
        </p:txBody>
      </p:sp>
      <p:cxnSp>
        <p:nvCxnSpPr>
          <p:cNvPr id="238" name="Google Shape;238;p25"/>
          <p:cNvCxnSpPr/>
          <p:nvPr/>
        </p:nvCxnSpPr>
        <p:spPr>
          <a:xfrm rot="10800000">
            <a:off x="3928585" y="1116875"/>
            <a:ext cx="12000" cy="14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25"/>
          <p:cNvCxnSpPr>
            <a:stCxn id="240" idx="2"/>
          </p:cNvCxnSpPr>
          <p:nvPr/>
        </p:nvCxnSpPr>
        <p:spPr>
          <a:xfrm>
            <a:off x="3940585" y="3037175"/>
            <a:ext cx="12600" cy="19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25"/>
          <p:cNvSpPr txBox="1"/>
          <p:nvPr/>
        </p:nvSpPr>
        <p:spPr>
          <a:xfrm>
            <a:off x="4059650" y="4477525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-∞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4059650" y="877400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+∞</a:t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243" name="Google Shape;243;p25"/>
          <p:cNvPicPr preferRelativeResize="0"/>
          <p:nvPr/>
        </p:nvPicPr>
        <p:blipFill rotWithShape="1">
          <a:blip r:embed="rId3">
            <a:alphaModFix/>
          </a:blip>
          <a:srcRect b="859" l="0" r="0" t="-860"/>
          <a:stretch/>
        </p:blipFill>
        <p:spPr>
          <a:xfrm flipH="1">
            <a:off x="549675" y="1116875"/>
            <a:ext cx="295982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0973" y="1092100"/>
            <a:ext cx="1376425" cy="3985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25"/>
          <p:cNvCxnSpPr/>
          <p:nvPr/>
        </p:nvCxnSpPr>
        <p:spPr>
          <a:xfrm>
            <a:off x="3934298" y="3037175"/>
            <a:ext cx="10800" cy="10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6" name="Google Shape;246;p25"/>
          <p:cNvCxnSpPr/>
          <p:nvPr/>
        </p:nvCxnSpPr>
        <p:spPr>
          <a:xfrm rot="10800000">
            <a:off x="3936685" y="1675175"/>
            <a:ext cx="3900" cy="9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247" name="Google Shape;24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8838" y="2571738"/>
            <a:ext cx="3714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3250" y="1424675"/>
            <a:ext cx="802969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5"/>
          <p:cNvPicPr preferRelativeResize="0"/>
          <p:nvPr/>
        </p:nvPicPr>
        <p:blipFill rotWithShape="1">
          <a:blip r:embed="rId7">
            <a:alphaModFix/>
          </a:blip>
          <a:srcRect b="0" l="8256" r="0" t="0"/>
          <a:stretch/>
        </p:blipFill>
        <p:spPr>
          <a:xfrm>
            <a:off x="4023250" y="3879800"/>
            <a:ext cx="802975" cy="48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1219400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1595150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1993900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2831688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2401088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3251438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3636638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4035363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25" y="4431288"/>
            <a:ext cx="371475" cy="50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66375" y="3105147"/>
            <a:ext cx="2115346" cy="10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88100" y="1725950"/>
            <a:ext cx="1993627" cy="9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0" y="2144588"/>
            <a:ext cx="9144000" cy="19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900">
                <a:solidFill>
                  <a:srgbClr val="FF0000"/>
                </a:solidFill>
              </a:rPr>
              <a:t>Still in Momentum Space</a:t>
            </a:r>
            <a:endParaRPr b="1" sz="5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Jordan-Lee-Preskill</a:t>
            </a:r>
            <a:endParaRPr/>
          </a:p>
        </p:txBody>
      </p:sp>
      <p:pic>
        <p:nvPicPr>
          <p:cNvPr id="267" name="Google Shape;267;p26"/>
          <p:cNvPicPr preferRelativeResize="0"/>
          <p:nvPr/>
        </p:nvPicPr>
        <p:blipFill rotWithShape="1">
          <a:blip r:embed="rId3">
            <a:alphaModFix/>
          </a:blip>
          <a:srcRect b="0" l="-10059" r="0" t="13442"/>
          <a:stretch/>
        </p:blipFill>
        <p:spPr>
          <a:xfrm>
            <a:off x="1675076" y="2376748"/>
            <a:ext cx="40885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765088" y="2767200"/>
            <a:ext cx="226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 momentum space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3703250" y="2063850"/>
            <a:ext cx="135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Quantum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Fourier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Transform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70" name="Google Shape;270;p26"/>
          <p:cNvCxnSpPr>
            <a:stCxn id="267" idx="3"/>
            <a:endCxn id="269" idx="1"/>
          </p:cNvCxnSpPr>
          <p:nvPr/>
        </p:nvCxnSpPr>
        <p:spPr>
          <a:xfrm flipH="1" rot="10800000">
            <a:off x="2083926" y="2571898"/>
            <a:ext cx="1619400" cy="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16798"/>
          <a:stretch/>
        </p:blipFill>
        <p:spPr>
          <a:xfrm>
            <a:off x="6677349" y="2394635"/>
            <a:ext cx="371475" cy="4438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5729988" y="2767200"/>
            <a:ext cx="226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 field space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73" name="Google Shape;273;p26"/>
          <p:cNvCxnSpPr>
            <a:stCxn id="269" idx="3"/>
            <a:endCxn id="271" idx="1"/>
          </p:cNvCxnSpPr>
          <p:nvPr/>
        </p:nvCxnSpPr>
        <p:spPr>
          <a:xfrm>
            <a:off x="5058050" y="2571750"/>
            <a:ext cx="1619400" cy="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26"/>
          <p:cNvCxnSpPr>
            <a:stCxn id="269" idx="2"/>
            <a:endCxn id="275" idx="0"/>
          </p:cNvCxnSpPr>
          <p:nvPr/>
        </p:nvCxnSpPr>
        <p:spPr>
          <a:xfrm>
            <a:off x="4380650" y="3079650"/>
            <a:ext cx="6300" cy="110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6"/>
          <p:cNvSpPr txBox="1"/>
          <p:nvPr/>
        </p:nvSpPr>
        <p:spPr>
          <a:xfrm>
            <a:off x="297650" y="4187700"/>
            <a:ext cx="817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999999"/>
                </a:solidFill>
              </a:rPr>
              <a:t>(make a unitary fourier matrix using our    	matrix which transforms between field and momentum space) [1]</a:t>
            </a:r>
            <a:endParaRPr i="1" sz="1800">
              <a:solidFill>
                <a:srgbClr val="999999"/>
              </a:solidFill>
            </a:endParaRPr>
          </a:p>
        </p:txBody>
      </p:sp>
      <p:pic>
        <p:nvPicPr>
          <p:cNvPr id="276" name="Google Shape;2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0675" y="4187850"/>
            <a:ext cx="266900" cy="3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Jordan-Lee-Preskill</a:t>
            </a:r>
            <a:endParaRPr/>
          </a:p>
        </p:txBody>
      </p:sp>
      <p:pic>
        <p:nvPicPr>
          <p:cNvPr id="282" name="Google Shape;2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125" y="1762113"/>
            <a:ext cx="389572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7950" y="2727838"/>
            <a:ext cx="1190124" cy="119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3825" y="2727838"/>
            <a:ext cx="1190124" cy="119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Finite Difference (FD)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Finite Difference (FD)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273" y="2571750"/>
            <a:ext cx="23812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6" name="Google Shape;296;p29"/>
          <p:cNvCxnSpPr/>
          <p:nvPr/>
        </p:nvCxnSpPr>
        <p:spPr>
          <a:xfrm rot="10800000">
            <a:off x="5222335" y="1108650"/>
            <a:ext cx="12000" cy="14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29"/>
          <p:cNvCxnSpPr>
            <a:stCxn id="295" idx="2"/>
          </p:cNvCxnSpPr>
          <p:nvPr/>
        </p:nvCxnSpPr>
        <p:spPr>
          <a:xfrm>
            <a:off x="5234335" y="3028950"/>
            <a:ext cx="12600" cy="19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p29"/>
          <p:cNvSpPr txBox="1"/>
          <p:nvPr/>
        </p:nvSpPr>
        <p:spPr>
          <a:xfrm>
            <a:off x="5353400" y="4469300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-∞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5353400" y="869175"/>
            <a:ext cx="11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2"/>
                </a:solidFill>
              </a:rPr>
              <a:t>+∞</a:t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4">
            <a:alphaModFix/>
          </a:blip>
          <a:srcRect b="859" l="0" r="0" t="-860"/>
          <a:stretch/>
        </p:blipFill>
        <p:spPr>
          <a:xfrm flipH="1">
            <a:off x="1843425" y="1108650"/>
            <a:ext cx="295982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4723" y="1083875"/>
            <a:ext cx="1376425" cy="398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13016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16573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1145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50310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29274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32831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374035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5449" y="4128900"/>
            <a:ext cx="51515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8299" y="4553250"/>
            <a:ext cx="51515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p29"/>
          <p:cNvCxnSpPr/>
          <p:nvPr/>
        </p:nvCxnSpPr>
        <p:spPr>
          <a:xfrm>
            <a:off x="5228048" y="3028950"/>
            <a:ext cx="10800" cy="10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2" name="Google Shape;312;p29"/>
          <p:cNvCxnSpPr/>
          <p:nvPr/>
        </p:nvCxnSpPr>
        <p:spPr>
          <a:xfrm rot="10800000">
            <a:off x="5230435" y="1666950"/>
            <a:ext cx="3900" cy="9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313" name="Google Shape;313;p29"/>
          <p:cNvPicPr preferRelativeResize="0"/>
          <p:nvPr/>
        </p:nvPicPr>
        <p:blipFill rotWithShape="1">
          <a:blip r:embed="rId7">
            <a:alphaModFix/>
          </a:blip>
          <a:srcRect b="18470" l="16444" r="13098" t="21581"/>
          <a:stretch/>
        </p:blipFill>
        <p:spPr>
          <a:xfrm>
            <a:off x="5353400" y="1576575"/>
            <a:ext cx="714375" cy="3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92350" y="3920900"/>
            <a:ext cx="956388" cy="49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39891" y="2197400"/>
            <a:ext cx="2092408" cy="10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Finite Difference (FD)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50" y="1161900"/>
            <a:ext cx="1925025" cy="94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950" y="2197950"/>
            <a:ext cx="4807176" cy="82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1950" y="3020075"/>
            <a:ext cx="3579320" cy="82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950" y="3978175"/>
            <a:ext cx="5743250" cy="7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6232300" y="1346113"/>
            <a:ext cx="2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Operator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6286175" y="3020063"/>
            <a:ext cx="2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Finite Difference Approximation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7" name="Google Shape;327;p30"/>
          <p:cNvSpPr txBox="1"/>
          <p:nvPr/>
        </p:nvSpPr>
        <p:spPr>
          <a:xfrm>
            <a:off x="6430350" y="4050388"/>
            <a:ext cx="2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Combination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Finite Difference (FD)</a:t>
            </a:r>
            <a:endParaRPr/>
          </a:p>
        </p:txBody>
      </p:sp>
      <p:pic>
        <p:nvPicPr>
          <p:cNvPr id="333" name="Google Shape;3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125" y="1762113"/>
            <a:ext cx="389572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7950" y="2727838"/>
            <a:ext cx="1190124" cy="119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3825" y="2727838"/>
            <a:ext cx="1190124" cy="119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Finite Difference Corrected (FDC)</a:t>
            </a:r>
            <a:endParaRPr/>
          </a:p>
        </p:txBody>
      </p:sp>
      <p:pic>
        <p:nvPicPr>
          <p:cNvPr id="341" name="Google Shape;34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038" y="1964613"/>
            <a:ext cx="5047925" cy="12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Harmonic Oscillator Basis</a:t>
            </a:r>
            <a:endParaRPr/>
          </a:p>
        </p:txBody>
      </p:sp>
      <p:sp>
        <p:nvSpPr>
          <p:cNvPr id="347" name="Google Shape;347;p33"/>
          <p:cNvSpPr txBox="1"/>
          <p:nvPr/>
        </p:nvSpPr>
        <p:spPr>
          <a:xfrm>
            <a:off x="311700" y="1198850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choose to work in a truncated set of harmonic oscillator eigenstates: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48" name="Google Shape;348;p33"/>
          <p:cNvPicPr preferRelativeResize="0"/>
          <p:nvPr/>
        </p:nvPicPr>
        <p:blipFill rotWithShape="1">
          <a:blip r:embed="rId3">
            <a:alphaModFix/>
          </a:blip>
          <a:srcRect b="0" l="2770" r="-2770" t="0"/>
          <a:stretch/>
        </p:blipFill>
        <p:spPr>
          <a:xfrm>
            <a:off x="2394050" y="1828725"/>
            <a:ext cx="41529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3"/>
          <p:cNvSpPr txBox="1"/>
          <p:nvPr/>
        </p:nvSpPr>
        <p:spPr>
          <a:xfrm>
            <a:off x="311700" y="3768950"/>
            <a:ext cx="802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Assume: true low energy states of our hamiltonian can be approximated by a linear combination of these states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Harmonic Oscillator Basis</a:t>
            </a:r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319911" y="13712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How do we express      and     in terms of these states?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56" name="Google Shape;35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400" y="1400050"/>
            <a:ext cx="236350" cy="4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400" y="1400050"/>
            <a:ext cx="2052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Harmonic Oscillator Basis</a:t>
            </a:r>
            <a:endParaRPr/>
          </a:p>
        </p:txBody>
      </p:sp>
      <p:sp>
        <p:nvSpPr>
          <p:cNvPr id="363" name="Google Shape;363;p35"/>
          <p:cNvSpPr txBox="1"/>
          <p:nvPr/>
        </p:nvSpPr>
        <p:spPr>
          <a:xfrm>
            <a:off x="319911" y="13712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How do we express      and     in terms of these states?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400" y="1400050"/>
            <a:ext cx="236350" cy="4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400" y="1400050"/>
            <a:ext cx="2052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2750" y="1857375"/>
            <a:ext cx="43815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Harmonic Oscillator Basis</a:t>
            </a:r>
            <a:endParaRPr/>
          </a:p>
        </p:txBody>
      </p:sp>
      <p:sp>
        <p:nvSpPr>
          <p:cNvPr id="372" name="Google Shape;372;p36"/>
          <p:cNvSpPr txBox="1"/>
          <p:nvPr/>
        </p:nvSpPr>
        <p:spPr>
          <a:xfrm>
            <a:off x="319911" y="13712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How do we express      and     in terms of these states?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73" name="Google Shape;3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400" y="1400050"/>
            <a:ext cx="236350" cy="4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400" y="1400050"/>
            <a:ext cx="2052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2750" y="1857375"/>
            <a:ext cx="43815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57463" y="3310550"/>
            <a:ext cx="402907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Harmonic Oscillator Basis</a:t>
            </a:r>
            <a:endParaRPr/>
          </a:p>
        </p:txBody>
      </p:sp>
      <p:pic>
        <p:nvPicPr>
          <p:cNvPr id="382" name="Google Shape;3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00" y="1178325"/>
            <a:ext cx="38195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7"/>
          <p:cNvPicPr preferRelativeResize="0"/>
          <p:nvPr/>
        </p:nvPicPr>
        <p:blipFill rotWithShape="1">
          <a:blip r:embed="rId4">
            <a:alphaModFix/>
          </a:blip>
          <a:srcRect b="0" l="0" r="11465" t="0"/>
          <a:stretch/>
        </p:blipFill>
        <p:spPr>
          <a:xfrm>
            <a:off x="4151250" y="983075"/>
            <a:ext cx="481540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Harmonic Oscillator Basis</a:t>
            </a:r>
            <a:endParaRPr/>
          </a:p>
        </p:txBody>
      </p:sp>
      <p:pic>
        <p:nvPicPr>
          <p:cNvPr id="389" name="Google Shape;3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00" y="1178325"/>
            <a:ext cx="38195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8"/>
          <p:cNvPicPr preferRelativeResize="0"/>
          <p:nvPr/>
        </p:nvPicPr>
        <p:blipFill rotWithShape="1">
          <a:blip r:embed="rId4">
            <a:alphaModFix/>
          </a:blip>
          <a:srcRect b="0" l="0" r="11465" t="0"/>
          <a:stretch/>
        </p:blipFill>
        <p:spPr>
          <a:xfrm>
            <a:off x="4151250" y="983075"/>
            <a:ext cx="48154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750" y="2688050"/>
            <a:ext cx="26670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1850" y="2688050"/>
            <a:ext cx="3724275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Harmonic Oscillator Basis</a:t>
            </a:r>
            <a:endParaRPr/>
          </a:p>
        </p:txBody>
      </p:sp>
      <p:pic>
        <p:nvPicPr>
          <p:cNvPr id="398" name="Google Shape;39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125" y="1762113"/>
            <a:ext cx="389572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7950" y="2727838"/>
            <a:ext cx="1190124" cy="119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3825" y="2727838"/>
            <a:ext cx="1190124" cy="119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Nyquist-Shannon Sampling Theorem</a:t>
            </a:r>
            <a:endParaRPr/>
          </a:p>
        </p:txBody>
      </p:sp>
      <p:sp>
        <p:nvSpPr>
          <p:cNvPr id="406" name="Google Shape;406;p40"/>
          <p:cNvSpPr txBox="1"/>
          <p:nvPr>
            <p:ph idx="1" type="body"/>
          </p:nvPr>
        </p:nvSpPr>
        <p:spPr>
          <a:xfrm>
            <a:off x="311700" y="1152475"/>
            <a:ext cx="41388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Variables are related to each 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End up with a balancing issue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JLP (/FDC): 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845088"/>
            <a:ext cx="2968175" cy="11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0"/>
          <p:cNvSpPr txBox="1"/>
          <p:nvPr/>
        </p:nvSpPr>
        <p:spPr>
          <a:xfrm>
            <a:off x="8268675" y="65700"/>
            <a:ext cx="7224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[3,4]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09" name="Google Shape;40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450" y="2490288"/>
            <a:ext cx="1993627" cy="9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4550" y="2494113"/>
            <a:ext cx="1993625" cy="89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4550" y="3599525"/>
            <a:ext cx="2680800" cy="994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p40"/>
          <p:cNvCxnSpPr/>
          <p:nvPr/>
        </p:nvCxnSpPr>
        <p:spPr>
          <a:xfrm rot="10800000">
            <a:off x="4646025" y="1918525"/>
            <a:ext cx="47700" cy="311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0"/>
          <p:cNvSpPr txBox="1"/>
          <p:nvPr/>
        </p:nvSpPr>
        <p:spPr>
          <a:xfrm>
            <a:off x="4844625" y="1978600"/>
            <a:ext cx="29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 Basis: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419" name="Google Shape;41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Graphs</a:t>
            </a:r>
            <a:br>
              <a:rPr lang="en-GB"/>
            </a:br>
            <a:r>
              <a:rPr lang="en-GB"/>
              <a:t>How to interpret them</a:t>
            </a:r>
            <a:endParaRPr/>
          </a:p>
        </p:txBody>
      </p:sp>
      <p:pic>
        <p:nvPicPr>
          <p:cNvPr id="420" name="Google Shape;420;p41" title="1st E Level JLP vs FDC Errors nQ = 3,4,5 with Optimal Phi Ma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75" y="1017725"/>
            <a:ext cx="7529700" cy="40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1"/>
          <p:cNvSpPr txBox="1"/>
          <p:nvPr/>
        </p:nvSpPr>
        <p:spPr>
          <a:xfrm>
            <a:off x="8383700" y="65825"/>
            <a:ext cx="7224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[1]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427" name="Google Shape;42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Graphs</a:t>
            </a:r>
            <a:br>
              <a:rPr lang="en-GB"/>
            </a:br>
            <a:r>
              <a:rPr lang="en-GB"/>
              <a:t>How to interpret them</a:t>
            </a:r>
            <a:endParaRPr/>
          </a:p>
        </p:txBody>
      </p:sp>
      <p:pic>
        <p:nvPicPr>
          <p:cNvPr id="428" name="Google Shape;428;p42" title="1st E Level JLP Vs HO Basis Change Errors nQ = 3,4,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947" y="938563"/>
            <a:ext cx="6623349" cy="384422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2"/>
          <p:cNvSpPr txBox="1"/>
          <p:nvPr/>
        </p:nvSpPr>
        <p:spPr>
          <a:xfrm>
            <a:off x="8383700" y="65825"/>
            <a:ext cx="7224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[1]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3"/>
          <p:cNvSpPr txBox="1"/>
          <p:nvPr>
            <p:ph type="title"/>
          </p:nvPr>
        </p:nvSpPr>
        <p:spPr>
          <a:xfrm>
            <a:off x="1981200" y="1999050"/>
            <a:ext cx="518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Looking forward, HTET what is it?</a:t>
            </a:r>
            <a:endParaRPr/>
          </a:p>
        </p:txBody>
      </p:sp>
      <p:sp>
        <p:nvSpPr>
          <p:cNvPr id="435" name="Google Shape;435;p43"/>
          <p:cNvSpPr txBox="1"/>
          <p:nvPr/>
        </p:nvSpPr>
        <p:spPr>
          <a:xfrm>
            <a:off x="82175" y="3516650"/>
            <a:ext cx="879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[5] - Hamiltonian Truncation Effective Theory by Cohen, Farnsworth, Houtz, Luty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